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2" name="Rectangle"/>
          <p:cNvSpPr/>
          <p:nvPr/>
        </p:nvSpPr>
        <p:spPr>
          <a:xfrm>
            <a:off x="844550" y="71120"/>
            <a:ext cx="317500" cy="317500"/>
          </a:xfrm>
          <a:prstGeom prst="roundRect">
            <a:avLst/>
          </a:prstGeom>
          <a:solidFill>
            <a:srgbClr val="D8CFC0"/>
          </a:solidFill>
          <a:ln>
            <a:noFill/>
          </a:ln>
        </p:spPr>
      </p:sp>
      <p:sp>
        <p:nvSpPr>
          <p:cNvPr id="3" name="Rectangle"/>
          <p:cNvSpPr/>
          <p:nvPr/>
        </p:nvSpPr>
        <p:spPr>
          <a:xfrm>
            <a:off x="910590" y="137160"/>
            <a:ext cx="185420" cy="185420"/>
          </a:xfrm>
          <a:prstGeom prst="roundRect">
            <a:avLst/>
          </a:prstGeom>
          <a:solidFill>
            <a:srgbClr val="BFCFC7"/>
          </a:solidFill>
          <a:ln>
            <a:noFill/>
          </a:ln>
        </p:spPr>
      </p:sp>
      <p:sp>
        <p:nvSpPr>
          <p:cNvPr id="4" name="Rectangle"/>
          <p:cNvSpPr/>
          <p:nvPr/>
        </p:nvSpPr>
        <p:spPr>
          <a:xfrm>
            <a:off x="955040" y="181610"/>
            <a:ext cx="96520" cy="965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6200" y="82550"/>
            <a:ext cx="381000" cy="330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100" dirty="0">
                <a:b/>
                <a:solidFill>
                  <a:srgbClr val="0F8B8D"/>
                </a:solidFill>
                <a:latin typeface="Aptos"/>
                <a:ea typeface="Microsoft JhengHei"/>
              </a:rPr>
              <a:t>OPEN-SLIDE WITH CODEX</a:t>
            </a:r>
            <a:endParaRPr lang="zh-TW" sz="2100"/>
          </a:p>
        </p:txBody>
      </p:sp>
      <p:sp>
        <p:nvSpPr>
          <p:cNvPr id="6" name="Text"/>
          <p:cNvSpPr txBox="1"/>
          <p:nvPr/>
        </p:nvSpPr>
        <p:spPr>
          <a:xfrm>
            <a:off x="76200" y="146050"/>
            <a:ext cx="622300" cy="165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96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MPU 姿態監測簡報</a:t>
            </a:r>
            <a:endParaRPr lang="zh-TW" sz="9600"/>
          </a:p>
        </p:txBody>
      </p:sp>
      <p:sp>
        <p:nvSpPr>
          <p:cNvPr id="7" name="Text"/>
          <p:cNvSpPr txBox="1"/>
          <p:nvPr/>
        </p:nvSpPr>
        <p:spPr>
          <a:xfrm>
            <a:off x="76200" y="361950"/>
            <a:ext cx="596900" cy="857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dirty="0">
                <a:solidFill>
                  <a:srgbClr val="637174"/>
                </a:solidFill>
                <a:latin typeface="Aptos"/>
                <a:ea typeface="Microsoft JhengHei"/>
              </a:rPr>
              <a:t>用 React component 寫投影片，Codex 可以直接新增頁面、調整版面，並在瀏覽器即時預覽。</a:t>
            </a:r>
            <a:endParaRPr lang="zh-TW" sz="3100"/>
          </a:p>
        </p:txBody>
      </p:sp>
      <p:sp>
        <p:nvSpPr>
          <p:cNvPr id="8" name="Text"/>
          <p:cNvSpPr txBox="1"/>
          <p:nvPr/>
        </p:nvSpPr>
        <p:spPr>
          <a:xfrm>
            <a:off x="76200" y="627380"/>
            <a:ext cx="3937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MPU + INA219 telemetry</a:t>
            </a:r>
            <a:endParaRPr lang="zh-TW" sz="1800"/>
          </a:p>
        </p:txBody>
      </p:sp>
      <p:sp>
        <p:nvSpPr>
          <p:cNvPr id="9" name="Text"/>
          <p:cNvSpPr txBox="1"/>
          <p:nvPr/>
        </p:nvSpPr>
        <p:spPr>
          <a:xfrm>
            <a:off x="1016000" y="627380"/>
            <a:ext cx="1270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01 / 03</a:t>
            </a:r>
            <a:endParaRPr lang="zh-TW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76200" y="71120"/>
            <a:ext cx="622300" cy="63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64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從感測器到瀏覽器</a:t>
            </a:r>
            <a:endParaRPr lang="zh-TW" sz="6400"/>
          </a:p>
        </p:txBody>
      </p:sp>
      <p:sp>
        <p:nvSpPr>
          <p:cNvPr id="4" name="Text"/>
          <p:cNvSpPr txBox="1"/>
          <p:nvPr/>
        </p:nvSpPr>
        <p:spPr>
          <a:xfrm>
            <a:off x="76200" y="158750"/>
            <a:ext cx="660400" cy="57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700" dirty="0">
                <a:solidFill>
                  <a:srgbClr val="637174"/>
                </a:solidFill>
                <a:latin typeface="Aptos"/>
                <a:ea typeface="Microsoft JhengHei"/>
              </a:rPr>
              <a:t>範例把 MPU 姿態與 INA219 電力資料整理成一條清楚的展示流程。</a:t>
            </a:r>
            <a:endParaRPr lang="zh-TW" sz="2700"/>
          </a:p>
        </p:txBody>
      </p:sp>
      <p:sp>
        <p:nvSpPr>
          <p:cNvPr id="5" name="Rectangle"/>
          <p:cNvSpPr/>
          <p:nvPr/>
        </p:nvSpPr>
        <p:spPr>
          <a:xfrm>
            <a:off x="76200" y="247650"/>
            <a:ext cx="209550" cy="1460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6" name="Rectangle"/>
          <p:cNvSpPr/>
          <p:nvPr/>
        </p:nvSpPr>
        <p:spPr>
          <a:xfrm>
            <a:off x="97790" y="269240"/>
            <a:ext cx="34290" cy="3429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97790" y="314960"/>
            <a:ext cx="158750" cy="31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Serial</a:t>
            </a:r>
            <a:endParaRPr lang="zh-TW" sz="3100"/>
          </a:p>
        </p:txBody>
      </p:sp>
      <p:sp>
        <p:nvSpPr>
          <p:cNvPr id="8" name="Text"/>
          <p:cNvSpPr txBox="1"/>
          <p:nvPr/>
        </p:nvSpPr>
        <p:spPr>
          <a:xfrm>
            <a:off x="97790" y="356870"/>
            <a:ext cx="161925" cy="40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637174"/>
                </a:solidFill>
                <a:latin typeface="Aptos"/>
                <a:ea typeface="Microsoft JhengHei"/>
              </a:rPr>
              <a:t>板端資料流進 Node server</a:t>
            </a:r>
            <a:endParaRPr lang="zh-TW" sz="2000"/>
          </a:p>
        </p:txBody>
      </p:sp>
      <p:sp>
        <p:nvSpPr>
          <p:cNvPr id="9" name="Text"/>
          <p:cNvSpPr txBox="1"/>
          <p:nvPr/>
        </p:nvSpPr>
        <p:spPr>
          <a:xfrm>
            <a:off x="304800" y="298450"/>
            <a:ext cx="38100" cy="38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600" dirty="0">
                <a:b/>
                <a:solidFill>
                  <a:srgbClr val="D99721"/>
                </a:solidFill>
                <a:latin typeface="Aptos"/>
                <a:ea typeface="Microsoft JhengHei"/>
              </a:rPr>
              <a:t>→</a:t>
            </a:r>
            <a:endParaRPr lang="zh-TW" sz="4600"/>
          </a:p>
        </p:txBody>
      </p:sp>
      <p:sp>
        <p:nvSpPr>
          <p:cNvPr id="10" name="Rectangle"/>
          <p:cNvSpPr/>
          <p:nvPr/>
        </p:nvSpPr>
        <p:spPr>
          <a:xfrm>
            <a:off x="355600" y="247650"/>
            <a:ext cx="209550" cy="1460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11" name="Rectangle"/>
          <p:cNvSpPr/>
          <p:nvPr/>
        </p:nvSpPr>
        <p:spPr>
          <a:xfrm>
            <a:off x="377190" y="269240"/>
            <a:ext cx="34290" cy="34290"/>
          </a:xfrm>
          <a:prstGeom prst="roundRect">
            <a:avLst/>
          </a:prstGeom>
          <a:solidFill>
            <a:srgbClr val="D99721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377190" y="314960"/>
            <a:ext cx="158750" cy="31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Parser</a:t>
            </a:r>
            <a:endParaRPr lang="zh-TW" sz="3100"/>
          </a:p>
        </p:txBody>
      </p:sp>
      <p:sp>
        <p:nvSpPr>
          <p:cNvPr id="13" name="Text"/>
          <p:cNvSpPr txBox="1"/>
          <p:nvPr/>
        </p:nvSpPr>
        <p:spPr>
          <a:xfrm>
            <a:off x="377190" y="356870"/>
            <a:ext cx="161925" cy="40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637174"/>
                </a:solidFill>
                <a:latin typeface="Aptos"/>
                <a:ea typeface="Microsoft JhengHei"/>
              </a:rPr>
              <a:t>轉成姿態角、電壓與電流</a:t>
            </a:r>
            <a:endParaRPr lang="zh-TW" sz="2000"/>
          </a:p>
        </p:txBody>
      </p:sp>
      <p:sp>
        <p:nvSpPr>
          <p:cNvPr id="14" name="Text"/>
          <p:cNvSpPr txBox="1"/>
          <p:nvPr/>
        </p:nvSpPr>
        <p:spPr>
          <a:xfrm>
            <a:off x="584200" y="298450"/>
            <a:ext cx="38100" cy="38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600" dirty="0">
                <a:b/>
                <a:solidFill>
                  <a:srgbClr val="D99721"/>
                </a:solidFill>
                <a:latin typeface="Aptos"/>
                <a:ea typeface="Microsoft JhengHei"/>
              </a:rPr>
              <a:t>→</a:t>
            </a:r>
            <a:endParaRPr lang="zh-TW" sz="4600"/>
          </a:p>
        </p:txBody>
      </p:sp>
      <p:sp>
        <p:nvSpPr>
          <p:cNvPr id="15" name="Rectangle"/>
          <p:cNvSpPr/>
          <p:nvPr/>
        </p:nvSpPr>
        <p:spPr>
          <a:xfrm>
            <a:off x="635000" y="247650"/>
            <a:ext cx="209550" cy="1460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16" name="Rectangle"/>
          <p:cNvSpPr/>
          <p:nvPr/>
        </p:nvSpPr>
        <p:spPr>
          <a:xfrm>
            <a:off x="656590" y="269240"/>
            <a:ext cx="34290" cy="34290"/>
          </a:xfrm>
          <a:prstGeom prst="roundRect">
            <a:avLst/>
          </a:prstGeom>
          <a:solidFill>
            <a:srgbClr val="417B5A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656590" y="314960"/>
            <a:ext cx="158750" cy="31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Viewer</a:t>
            </a:r>
            <a:endParaRPr lang="zh-TW" sz="3100"/>
          </a:p>
        </p:txBody>
      </p:sp>
      <p:sp>
        <p:nvSpPr>
          <p:cNvPr id="18" name="Text"/>
          <p:cNvSpPr txBox="1"/>
          <p:nvPr/>
        </p:nvSpPr>
        <p:spPr>
          <a:xfrm>
            <a:off x="656590" y="356870"/>
            <a:ext cx="161925" cy="40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637174"/>
                </a:solidFill>
                <a:latin typeface="Aptos"/>
                <a:ea typeface="Microsoft JhengHei"/>
              </a:rPr>
              <a:t>Web UI 即時更新儀表板</a:t>
            </a:r>
            <a:endParaRPr lang="zh-TW" sz="2000"/>
          </a:p>
        </p:txBody>
      </p:sp>
      <p:sp>
        <p:nvSpPr>
          <p:cNvPr id="19" name="Text"/>
          <p:cNvSpPr txBox="1"/>
          <p:nvPr/>
        </p:nvSpPr>
        <p:spPr>
          <a:xfrm>
            <a:off x="863600" y="298450"/>
            <a:ext cx="38100" cy="38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600" dirty="0">
                <a:b/>
                <a:solidFill>
                  <a:srgbClr val="D99721"/>
                </a:solidFill>
                <a:latin typeface="Aptos"/>
                <a:ea typeface="Microsoft JhengHei"/>
              </a:rPr>
              <a:t>→</a:t>
            </a:r>
            <a:endParaRPr lang="zh-TW" sz="4600"/>
          </a:p>
        </p:txBody>
      </p:sp>
      <p:sp>
        <p:nvSpPr>
          <p:cNvPr id="20" name="Rectangle"/>
          <p:cNvSpPr/>
          <p:nvPr/>
        </p:nvSpPr>
        <p:spPr>
          <a:xfrm>
            <a:off x="914400" y="247650"/>
            <a:ext cx="209550" cy="1460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21" name="Rectangle"/>
          <p:cNvSpPr/>
          <p:nvPr/>
        </p:nvSpPr>
        <p:spPr>
          <a:xfrm>
            <a:off x="935990" y="269240"/>
            <a:ext cx="34290" cy="34290"/>
          </a:xfrm>
          <a:prstGeom prst="roundRect">
            <a:avLst/>
          </a:prstGeom>
          <a:solidFill>
            <a:srgbClr val="D95F43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935990" y="314960"/>
            <a:ext cx="158750" cy="31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31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Slide</a:t>
            </a:r>
            <a:endParaRPr lang="zh-TW" sz="3100"/>
          </a:p>
        </p:txBody>
      </p:sp>
      <p:sp>
        <p:nvSpPr>
          <p:cNvPr id="23" name="Text"/>
          <p:cNvSpPr txBox="1"/>
          <p:nvPr/>
        </p:nvSpPr>
        <p:spPr>
          <a:xfrm>
            <a:off x="935990" y="356870"/>
            <a:ext cx="161925" cy="40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000" dirty="0">
                <a:solidFill>
                  <a:srgbClr val="637174"/>
                </a:solidFill>
                <a:latin typeface="Aptos"/>
                <a:ea typeface="Microsoft JhengHei"/>
              </a:rPr>
              <a:t>將重點包成可分享簡報</a:t>
            </a:r>
            <a:endParaRPr lang="zh-TW" sz="2000"/>
          </a:p>
        </p:txBody>
      </p:sp>
      <p:sp>
        <p:nvSpPr>
          <p:cNvPr id="24" name="Text"/>
          <p:cNvSpPr txBox="1"/>
          <p:nvPr/>
        </p:nvSpPr>
        <p:spPr>
          <a:xfrm>
            <a:off x="76200" y="627380"/>
            <a:ext cx="3937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MPU + INA219 telemetry</a:t>
            </a:r>
            <a:endParaRPr lang="zh-TW" sz="1800"/>
          </a:p>
        </p:txBody>
      </p:sp>
      <p:sp>
        <p:nvSpPr>
          <p:cNvPr id="25" name="Text"/>
          <p:cNvSpPr txBox="1"/>
          <p:nvPr/>
        </p:nvSpPr>
        <p:spPr>
          <a:xfrm>
            <a:off x="1016000" y="627380"/>
            <a:ext cx="1270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02 / 03</a:t>
            </a:r>
            <a:endParaRPr lang="zh-TW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angle"/>
          <p:cNvSpPr/>
          <p:nvPr/>
        </p:nvSpPr>
        <p:spPr>
          <a:xfrm>
            <a:off x="0" y="0"/>
            <a:ext cx="1219200" cy="6858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76200" y="71120"/>
            <a:ext cx="438150" cy="60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61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投影片也是介面</a:t>
            </a:r>
            <a:endParaRPr lang="zh-TW" sz="6100"/>
          </a:p>
        </p:txBody>
      </p:sp>
      <p:sp>
        <p:nvSpPr>
          <p:cNvPr id="12" name="Text"/>
          <p:cNvSpPr txBox="1"/>
          <p:nvPr/>
        </p:nvSpPr>
        <p:spPr>
          <a:xfrm>
            <a:off x="76200" y="158750"/>
            <a:ext cx="438150" cy="82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600" dirty="0">
                <a:solidFill>
                  <a:srgbClr val="637174"/>
                </a:solidFill>
                <a:latin typeface="Aptos"/>
                <a:ea typeface="Microsoft JhengHei"/>
              </a:rPr>
              <a:t>open-slide 適合把工程狀態、實驗結果、demo 流程做成可維護的簡報。</a:t>
            </a:r>
            <a:endParaRPr lang="zh-TW" sz="2600"/>
          </a:p>
        </p:txBody>
      </p:sp>
      <p:sp>
        <p:nvSpPr>
          <p:cNvPr id="13" name="Rectangle"/>
          <p:cNvSpPr/>
          <p:nvPr/>
        </p:nvSpPr>
        <p:spPr>
          <a:xfrm>
            <a:off x="482600" y="146050"/>
            <a:ext cx="228600" cy="1587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14" name="Rectangle"/>
          <p:cNvSpPr/>
          <p:nvPr/>
        </p:nvSpPr>
        <p:spPr>
          <a:xfrm>
            <a:off x="502920" y="166370"/>
            <a:ext cx="27940" cy="76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502920" y="194310"/>
            <a:ext cx="158750" cy="241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100" dirty="0">
                <a:solidFill>
                  <a:srgbClr val="637174"/>
                </a:solidFill>
                <a:latin typeface="Aptos"/>
                <a:ea typeface="Microsoft JhengHei"/>
              </a:rPr>
              <a:t>Pitch</a:t>
            </a:r>
            <a:endParaRPr lang="zh-TW" sz="2100"/>
          </a:p>
        </p:txBody>
      </p:sp>
      <p:sp>
        <p:nvSpPr>
          <p:cNvPr id="16" name="Text"/>
          <p:cNvSpPr txBox="1"/>
          <p:nvPr/>
        </p:nvSpPr>
        <p:spPr>
          <a:xfrm>
            <a:off x="502920" y="228600"/>
            <a:ext cx="165100" cy="431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3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+12.4°</a:t>
            </a:r>
            <a:endParaRPr lang="zh-TW" sz="4300"/>
          </a:p>
        </p:txBody>
      </p:sp>
      <p:sp>
        <p:nvSpPr>
          <p:cNvPr id="17" name="Text"/>
          <p:cNvSpPr txBox="1"/>
          <p:nvPr/>
        </p:nvSpPr>
        <p:spPr>
          <a:xfrm>
            <a:off x="502920" y="281940"/>
            <a:ext cx="17145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900" dirty="0">
                <a:solidFill>
                  <a:srgbClr val="637174"/>
                </a:solidFill>
                <a:latin typeface="Aptos"/>
                <a:ea typeface="Microsoft JhengHei"/>
              </a:rPr>
              <a:t>姿態角保持穩定</a:t>
            </a:r>
            <a:endParaRPr lang="zh-TW" sz="1900"/>
          </a:p>
        </p:txBody>
      </p:sp>
      <p:sp>
        <p:nvSpPr>
          <p:cNvPr id="18" name="Rectangle"/>
          <p:cNvSpPr/>
          <p:nvPr/>
        </p:nvSpPr>
        <p:spPr>
          <a:xfrm>
            <a:off x="728980" y="146050"/>
            <a:ext cx="228600" cy="1587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19" name="Rectangle"/>
          <p:cNvSpPr/>
          <p:nvPr/>
        </p:nvSpPr>
        <p:spPr>
          <a:xfrm>
            <a:off x="749300" y="166370"/>
            <a:ext cx="27940" cy="7620"/>
          </a:xfrm>
          <a:prstGeom prst="roundRect">
            <a:avLst/>
          </a:prstGeom>
          <a:solidFill>
            <a:srgbClr val="D99721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749300" y="194310"/>
            <a:ext cx="158750" cy="241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100" dirty="0">
                <a:solidFill>
                  <a:srgbClr val="637174"/>
                </a:solidFill>
                <a:latin typeface="Aptos"/>
                <a:ea typeface="Microsoft JhengHei"/>
              </a:rPr>
              <a:t>Current</a:t>
            </a:r>
            <a:endParaRPr lang="zh-TW" sz="2100"/>
          </a:p>
        </p:txBody>
      </p:sp>
      <p:sp>
        <p:nvSpPr>
          <p:cNvPr id="21" name="Text"/>
          <p:cNvSpPr txBox="1"/>
          <p:nvPr/>
        </p:nvSpPr>
        <p:spPr>
          <a:xfrm>
            <a:off x="749300" y="228600"/>
            <a:ext cx="165100" cy="431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3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318mA</a:t>
            </a:r>
            <a:endParaRPr lang="zh-TW" sz="4300"/>
          </a:p>
        </p:txBody>
      </p:sp>
      <p:sp>
        <p:nvSpPr>
          <p:cNvPr id="22" name="Text"/>
          <p:cNvSpPr txBox="1"/>
          <p:nvPr/>
        </p:nvSpPr>
        <p:spPr>
          <a:xfrm>
            <a:off x="749300" y="281940"/>
            <a:ext cx="17145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900" dirty="0">
                <a:solidFill>
                  <a:srgbClr val="637174"/>
                </a:solidFill>
                <a:latin typeface="Aptos"/>
                <a:ea typeface="Microsoft JhengHei"/>
              </a:rPr>
              <a:t>負載變化可追蹤</a:t>
            </a:r>
            <a:endParaRPr lang="zh-TW" sz="1900"/>
          </a:p>
        </p:txBody>
      </p:sp>
      <p:sp>
        <p:nvSpPr>
          <p:cNvPr id="23" name="Rectangle"/>
          <p:cNvSpPr/>
          <p:nvPr/>
        </p:nvSpPr>
        <p:spPr>
          <a:xfrm>
            <a:off x="975360" y="146050"/>
            <a:ext cx="228600" cy="158750"/>
          </a:xfrm>
          <a:prstGeom prst="roundRect">
            <a:avLst/>
          </a:prstGeom>
          <a:solidFill>
            <a:srgbClr val="FFFAF0"/>
          </a:solidFill>
          <a:ln w="19050">
            <a:solidFill>
              <a:srgbClr val="D8CFC0"/>
            </a:solidFill>
          </a:ln>
        </p:spPr>
      </p:sp>
      <p:sp>
        <p:nvSpPr>
          <p:cNvPr id="24" name="Rectangle"/>
          <p:cNvSpPr/>
          <p:nvPr/>
        </p:nvSpPr>
        <p:spPr>
          <a:xfrm>
            <a:off x="995680" y="166370"/>
            <a:ext cx="27940" cy="7620"/>
          </a:xfrm>
          <a:prstGeom prst="roundRect">
            <a:avLst/>
          </a:prstGeom>
          <a:solidFill>
            <a:srgbClr val="417B5A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995680" y="194310"/>
            <a:ext cx="158750" cy="241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100" dirty="0">
                <a:solidFill>
                  <a:srgbClr val="637174"/>
                </a:solidFill>
                <a:latin typeface="Aptos"/>
                <a:ea typeface="Microsoft JhengHei"/>
              </a:rPr>
              <a:t>Voltage</a:t>
            </a:r>
            <a:endParaRPr lang="zh-TW" sz="2100"/>
          </a:p>
        </p:txBody>
      </p:sp>
      <p:sp>
        <p:nvSpPr>
          <p:cNvPr id="26" name="Text"/>
          <p:cNvSpPr txBox="1"/>
          <p:nvPr/>
        </p:nvSpPr>
        <p:spPr>
          <a:xfrm>
            <a:off x="995680" y="228600"/>
            <a:ext cx="165100" cy="431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4300" dirty="0">
                <a:b/>
                <a:solidFill>
                  <a:srgbClr val="1F2A2E"/>
                </a:solidFill>
                <a:latin typeface="Aptos"/>
                <a:ea typeface="Microsoft JhengHei"/>
              </a:rPr>
              <a:t>5.08V</a:t>
            </a:r>
            <a:endParaRPr lang="zh-TW" sz="4300"/>
          </a:p>
        </p:txBody>
      </p:sp>
      <p:sp>
        <p:nvSpPr>
          <p:cNvPr id="27" name="Text"/>
          <p:cNvSpPr txBox="1"/>
          <p:nvPr/>
        </p:nvSpPr>
        <p:spPr>
          <a:xfrm>
            <a:off x="995680" y="281940"/>
            <a:ext cx="171450" cy="3683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900" dirty="0">
                <a:solidFill>
                  <a:srgbClr val="637174"/>
                </a:solidFill>
                <a:latin typeface="Aptos"/>
                <a:ea typeface="Microsoft JhengHei"/>
              </a:rPr>
              <a:t>供電狀態正常</a:t>
            </a:r>
            <a:endParaRPr lang="zh-TW" sz="1900"/>
          </a:p>
        </p:txBody>
      </p:sp>
      <p:sp>
        <p:nvSpPr>
          <p:cNvPr id="28" name="Rectangle"/>
          <p:cNvSpPr/>
          <p:nvPr/>
        </p:nvSpPr>
        <p:spPr>
          <a:xfrm>
            <a:off x="76200" y="488950"/>
            <a:ext cx="1066800" cy="133350"/>
          </a:xfrm>
          <a:prstGeom prst="roundRect">
            <a:avLst/>
          </a:prstGeom>
          <a:solidFill>
            <a:srgbClr val="223236"/>
          </a:solidFill>
          <a:ln w="19050">
            <a:solidFill>
              <a:srgbClr val="33484D"/>
            </a:solidFill>
          </a:ln>
        </p:spPr>
      </p:sp>
      <p:sp>
        <p:nvSpPr>
          <p:cNvPr id="3" name="Rectangle"/>
          <p:cNvSpPr/>
          <p:nvPr/>
        </p:nvSpPr>
        <p:spPr>
          <a:xfrm>
            <a:off x="99060" y="533400"/>
            <a:ext cx="46990" cy="457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4" name="Rectangle"/>
          <p:cNvSpPr/>
          <p:nvPr/>
        </p:nvSpPr>
        <p:spPr>
          <a:xfrm>
            <a:off x="157480" y="504190"/>
            <a:ext cx="46990" cy="74930"/>
          </a:xfrm>
          <a:prstGeom prst="roundRect">
            <a:avLst/>
          </a:prstGeom>
          <a:solidFill>
            <a:srgbClr val="D99721"/>
          </a:solidFill>
          <a:ln>
            <a:noFill/>
          </a:ln>
        </p:spPr>
      </p:sp>
      <p:sp>
        <p:nvSpPr>
          <p:cNvPr id="5" name="Rectangle"/>
          <p:cNvSpPr/>
          <p:nvPr/>
        </p:nvSpPr>
        <p:spPr>
          <a:xfrm>
            <a:off x="215900" y="518160"/>
            <a:ext cx="46990" cy="6096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6" name="Rectangle"/>
          <p:cNvSpPr/>
          <p:nvPr/>
        </p:nvSpPr>
        <p:spPr>
          <a:xfrm>
            <a:off x="274320" y="483870"/>
            <a:ext cx="46990" cy="95250"/>
          </a:xfrm>
          <a:prstGeom prst="roundRect">
            <a:avLst/>
          </a:prstGeom>
          <a:solidFill>
            <a:srgbClr val="D95F43"/>
          </a:solidFill>
          <a:ln>
            <a:noFill/>
          </a:ln>
        </p:spPr>
      </p:sp>
      <p:sp>
        <p:nvSpPr>
          <p:cNvPr id="7" name="Rectangle"/>
          <p:cNvSpPr/>
          <p:nvPr/>
        </p:nvSpPr>
        <p:spPr>
          <a:xfrm>
            <a:off x="332740" y="495300"/>
            <a:ext cx="46990" cy="838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8" name="Rectangle"/>
          <p:cNvSpPr/>
          <p:nvPr/>
        </p:nvSpPr>
        <p:spPr>
          <a:xfrm>
            <a:off x="391160" y="471170"/>
            <a:ext cx="46990" cy="107950"/>
          </a:xfrm>
          <a:prstGeom prst="roundRect">
            <a:avLst/>
          </a:prstGeom>
          <a:solidFill>
            <a:srgbClr val="D99721"/>
          </a:solidFill>
          <a:ln>
            <a:noFill/>
          </a:ln>
        </p:spPr>
      </p:sp>
      <p:sp>
        <p:nvSpPr>
          <p:cNvPr id="9" name="Rectangle"/>
          <p:cNvSpPr/>
          <p:nvPr/>
        </p:nvSpPr>
        <p:spPr>
          <a:xfrm>
            <a:off x="449580" y="513080"/>
            <a:ext cx="46990" cy="6604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</p:sp>
      <p:sp>
        <p:nvSpPr>
          <p:cNvPr id="10" name="Rectangle"/>
          <p:cNvSpPr/>
          <p:nvPr/>
        </p:nvSpPr>
        <p:spPr>
          <a:xfrm>
            <a:off x="508000" y="488950"/>
            <a:ext cx="46990" cy="90170"/>
          </a:xfrm>
          <a:prstGeom prst="roundRect">
            <a:avLst/>
          </a:prstGeom>
          <a:solidFill>
            <a:srgbClr val="D95F43"/>
          </a:solidFill>
          <a:ln>
            <a:noFill/>
          </a:ln>
        </p:spPr>
      </p:sp>
      <p:sp>
        <p:nvSpPr>
          <p:cNvPr id="29" name="Text"/>
          <p:cNvSpPr txBox="1"/>
          <p:nvPr/>
        </p:nvSpPr>
        <p:spPr>
          <a:xfrm>
            <a:off x="885825" y="537210"/>
            <a:ext cx="209550" cy="279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2100" dirty="0">
                <a:solidFill>
                  <a:srgbClr val="DCE7E3"/>
                </a:solidFill>
                <a:latin typeface="Aptos"/>
                <a:ea typeface="Microsoft JhengHei"/>
              </a:rPr>
              <a:t>telemetry sample window</a:t>
            </a:r>
            <a:endParaRPr lang="zh-TW" sz="2100"/>
          </a:p>
        </p:txBody>
      </p:sp>
      <p:sp>
        <p:nvSpPr>
          <p:cNvPr id="30" name="Text"/>
          <p:cNvSpPr txBox="1"/>
          <p:nvPr/>
        </p:nvSpPr>
        <p:spPr>
          <a:xfrm>
            <a:off x="76200" y="627380"/>
            <a:ext cx="3937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MPU + INA219 telemetry</a:t>
            </a:r>
            <a:endParaRPr lang="zh-TW" sz="1800"/>
          </a:p>
        </p:txBody>
      </p:sp>
      <p:sp>
        <p:nvSpPr>
          <p:cNvPr id="31" name="Text"/>
          <p:cNvSpPr txBox="1"/>
          <p:nvPr/>
        </p:nvSpPr>
        <p:spPr>
          <a:xfrm>
            <a:off x="1016000" y="627380"/>
            <a:ext cx="127000" cy="25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zh-TW" sz="1800" dirty="0">
                <a:solidFill>
                  <a:srgbClr val="637174"/>
                </a:solidFill>
                <a:latin typeface="Aptos"/>
                <a:ea typeface="Microsoft JhengHei"/>
              </a:rPr>
              <a:t>03 / 03</a:t>
            </a:r>
            <a:endParaRPr lang="zh-TW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000000"/>
      </a:dk1>
      <a:lt1>
        <a:srgbClr val="FFFFFF"/>
      </a:lt1>
      <a:dk2>
        <a:srgbClr val="1F2A2E"/>
      </a:dk2>
      <a:lt2>
        <a:srgbClr val="F5F1E8"/>
      </a:lt2>
      <a:accent1>
        <a:srgbClr val="0F8B8D"/>
      </a:accent1>
      <a:accent2>
        <a:srgbClr val="D99721"/>
      </a:accent2>
      <a:accent3>
        <a:srgbClr val="417B5A"/>
      </a:accent3>
      <a:accent4>
        <a:srgbClr val="D95F43"/>
      </a:accent4>
      <a:accent5>
        <a:srgbClr val="637174"/>
      </a:accent5>
      <a:accent6>
        <a:srgbClr val="D8CFC0"/>
      </a:accent6>
      <a:hlink>
        <a:srgbClr val="0F8B8D"/>
      </a:hlink>
      <a:folHlink>
        <a:srgbClr val="D95F43"/>
      </a:folHlink>
    </a:clrScheme>
    <a:fontScheme name="Codex">
      <a:majorFont>
        <a:latin typeface="Aptos Display"/>
        <a:ea typeface="Microsoft JhengHei"/>
      </a:majorFont>
      <a:minorFont>
        <a:latin typeface="Aptos"/>
        <a:ea typeface="Microsoft JhengHei"/>
      </a:minorFont>
    </a:fontScheme>
    <a:fmtScheme name="Code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MPU 姿態監測簡報</dc:title>
  <dc:creator>Codex</dc:creator>
  <cp:lastModifiedBy>Codex</cp:lastModifiedBy>
  <dcterms:created xsi:type="dcterms:W3CDTF">2026-05-27T08:55:00Z</dcterms:created>
  <dcterms:modified xsi:type="dcterms:W3CDTF">2026-05-27T08:55:00Z</dcterms:modified>
</cp:coreProperties>
</file>