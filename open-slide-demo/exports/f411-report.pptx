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cb-3d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eadboard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sktop-main.png"/><Relationship Id="rId3" Type="http://schemas.openxmlformats.org/officeDocument/2006/relationships/image" Target="../media/desktop-power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hematic-1.png"/><Relationship Id="rId3" Type="http://schemas.openxmlformats.org/officeDocument/2006/relationships/image" Target="../media/schematic-2.png"/><Relationship Id="rId4" Type="http://schemas.openxmlformats.org/officeDocument/2006/relationships/image" Target="../media/pcb-3d.png"/><Relationship Id="rId5" Type="http://schemas.openxmlformats.org/officeDocument/2006/relationships/image" Target="../media/pcb-layout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2" name="Rectangle"/>
          <p:cNvSpPr/>
          <p:nvPr/>
        </p:nvSpPr>
        <p:spPr>
          <a:xfrm>
            <a:off x="590550" y="0"/>
            <a:ext cx="628650" cy="685800"/>
          </a:xfrm>
          <a:prstGeom prst="rect">
            <a:avLst/>
          </a:prstGeom>
          <a:solidFill>
            <a:srgbClr val="E8F3F1"/>
          </a:solidFill>
          <a:ln>
            <a:noFill/>
          </a:ln>
        </p:spPr>
      </p:sp>
      <p:sp>
        <p:nvSpPr>
          <p:cNvPr id="3" name="Text"/>
          <p:cNvSpPr txBox="1"/>
          <p:nvPr/>
        </p:nvSpPr>
        <p:spPr>
          <a:xfrm>
            <a:off x="58420" y="82550"/>
            <a:ext cx="330200" cy="215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000" dirty="0">
                <a:b/>
                <a:solidFill>
                  <a:srgbClr val="00857A"/>
                </a:solidFill>
                <a:latin typeface="Aptos"/>
                <a:ea typeface="Microsoft JhengHei"/>
              </a:rPr>
              <a:t>專題成果報告</a:t>
            </a:r>
            <a:endParaRPr lang="zh-TW" sz="2000"/>
          </a:p>
        </p:txBody>
      </p:sp>
      <p:sp>
        <p:nvSpPr>
          <p:cNvPr id="4" name="Text"/>
          <p:cNvSpPr txBox="1"/>
          <p:nvPr/>
        </p:nvSpPr>
        <p:spPr>
          <a:xfrm>
            <a:off x="58420" y="133350"/>
            <a:ext cx="469900" cy="139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72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STM32F411</a:t>
            </a:r>
            <a:endParaRPr lang="zh-TW" sz="7200"/>
          </a:p>
          <a:p>
            <a:r>
              <a:rPr lang="zh-TW" sz="72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頭部追蹤音訊系統</a:t>
            </a:r>
            <a:endParaRPr lang="zh-TW" sz="7200"/>
          </a:p>
        </p:txBody>
      </p:sp>
      <p:sp>
        <p:nvSpPr>
          <p:cNvPr id="5" name="Text"/>
          <p:cNvSpPr txBox="1"/>
          <p:nvPr/>
        </p:nvSpPr>
        <p:spPr>
          <a:xfrm>
            <a:off x="58420" y="314325"/>
            <a:ext cx="495300" cy="952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500" dirty="0">
                <a:solidFill>
                  <a:srgbClr val="5B6773"/>
                </a:solidFill>
                <a:latin typeface="Aptos"/>
                <a:ea typeface="Microsoft JhengHei"/>
              </a:rPr>
              <a:t>從 AI 專案設計、麵包板驗證、韌體完成，到桌面監測頁面與 PCB layout 的完整開發流程。</a:t>
            </a:r>
            <a:endParaRPr lang="zh-TW" sz="2500"/>
          </a:p>
        </p:txBody>
      </p:sp>
      <p:sp>
        <p:nvSpPr>
          <p:cNvPr id="6" name="Rectangle"/>
          <p:cNvSpPr/>
          <p:nvPr/>
        </p:nvSpPr>
        <p:spPr>
          <a:xfrm>
            <a:off x="660400" y="92075"/>
            <a:ext cx="4826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pic>
        <p:nvPicPr>
          <p:cNvPr id="7" name="3D PCB preview"/>
          <p:cNvPicPr/>
          <p:nvPr/>
        </p:nvPicPr>
        <p:blipFill>
          <a:blip r:embed="rId2"/>
          <a:stretch>
            <a:fillRect/>
          </a:stretch>
        </p:blipFill>
        <p:spPr>
          <a:xfrm>
            <a:off x="665480" y="97155"/>
            <a:ext cx="472440" cy="472440"/>
          </a:xfrm>
          <a:prstGeom prst="rect">
            <a:avLst/>
          </a:prstGeom>
        </p:spPr>
      </p:pic>
      <p:sp>
        <p:nvSpPr>
          <p:cNvPr id="8" name="Rectangle"/>
          <p:cNvSpPr/>
          <p:nvPr/>
        </p:nvSpPr>
        <p:spPr>
          <a:xfrm>
            <a:off x="673100" y="540385"/>
            <a:ext cx="158750" cy="22860"/>
          </a:xfrm>
          <a:prstGeom prst="roundRect">
            <a:avLst/>
          </a:prstGeom>
          <a:solidFill>
            <a:srgbClr val="1F2B37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680720" y="544195"/>
            <a:ext cx="142875" cy="15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3D PCB preview</a:t>
            </a:r>
            <a:endParaRPr lang="zh-TW" sz="1500"/>
          </a:p>
        </p:txBody>
      </p:sp>
      <p:sp>
        <p:nvSpPr>
          <p:cNvPr id="10" name="Rectangle"/>
          <p:cNvSpPr/>
          <p:nvPr/>
        </p:nvSpPr>
        <p:spPr>
          <a:xfrm>
            <a:off x="58420" y="457200"/>
            <a:ext cx="107950" cy="79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1" name="Rectangle"/>
          <p:cNvSpPr/>
          <p:nvPr/>
        </p:nvSpPr>
        <p:spPr>
          <a:xfrm>
            <a:off x="73660" y="472440"/>
            <a:ext cx="31750" cy="5080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73660" y="492760"/>
            <a:ext cx="7747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Sensor</a:t>
            </a:r>
            <a:endParaRPr lang="zh-TW" sz="1800"/>
          </a:p>
        </p:txBody>
      </p:sp>
      <p:sp>
        <p:nvSpPr>
          <p:cNvPr id="13" name="Text"/>
          <p:cNvSpPr txBox="1"/>
          <p:nvPr/>
        </p:nvSpPr>
        <p:spPr>
          <a:xfrm>
            <a:off x="73660" y="515620"/>
            <a:ext cx="7747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MPU6500</a:t>
            </a:r>
            <a:endParaRPr lang="zh-TW" sz="3600"/>
          </a:p>
        </p:txBody>
      </p:sp>
      <p:sp>
        <p:nvSpPr>
          <p:cNvPr id="14" name="Text"/>
          <p:cNvSpPr txBox="1"/>
          <p:nvPr/>
        </p:nvSpPr>
        <p:spPr>
          <a:xfrm>
            <a:off x="73660" y="553720"/>
            <a:ext cx="77470" cy="-222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姿態輸入</a:t>
            </a:r>
            <a:endParaRPr lang="zh-TW" sz="1700"/>
          </a:p>
        </p:txBody>
      </p:sp>
      <p:sp>
        <p:nvSpPr>
          <p:cNvPr id="15" name="Rectangle"/>
          <p:cNvSpPr/>
          <p:nvPr/>
        </p:nvSpPr>
        <p:spPr>
          <a:xfrm>
            <a:off x="181610" y="457200"/>
            <a:ext cx="120650" cy="79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6" name="Rectangle"/>
          <p:cNvSpPr/>
          <p:nvPr/>
        </p:nvSpPr>
        <p:spPr>
          <a:xfrm>
            <a:off x="196850" y="472440"/>
            <a:ext cx="31750" cy="5080"/>
          </a:xfrm>
          <a:prstGeom prst="roundRect">
            <a:avLst/>
          </a:prstGeom>
          <a:solidFill>
            <a:srgbClr val="2F6FBB"/>
          </a:solidFill>
          <a:ln>
            <a:noFill/>
          </a:ln>
        </p:spPr>
      </p:sp>
      <p:sp>
        <p:nvSpPr>
          <p:cNvPr id="17" name="Text"/>
          <p:cNvSpPr txBox="1"/>
          <p:nvPr/>
        </p:nvSpPr>
        <p:spPr>
          <a:xfrm>
            <a:off x="196850" y="492760"/>
            <a:ext cx="9017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Audio</a:t>
            </a:r>
            <a:endParaRPr lang="zh-TW" sz="1800"/>
          </a:p>
        </p:txBody>
      </p:sp>
      <p:sp>
        <p:nvSpPr>
          <p:cNvPr id="18" name="Text"/>
          <p:cNvSpPr txBox="1"/>
          <p:nvPr/>
        </p:nvSpPr>
        <p:spPr>
          <a:xfrm>
            <a:off x="196850" y="515620"/>
            <a:ext cx="9017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MAX98357A</a:t>
            </a:r>
            <a:endParaRPr lang="zh-TW" sz="3600"/>
          </a:p>
        </p:txBody>
      </p:sp>
      <p:sp>
        <p:nvSpPr>
          <p:cNvPr id="19" name="Text"/>
          <p:cNvSpPr txBox="1"/>
          <p:nvPr/>
        </p:nvSpPr>
        <p:spPr>
          <a:xfrm>
            <a:off x="196850" y="553720"/>
            <a:ext cx="90170" cy="-222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雙 I2S</a:t>
            </a:r>
            <a:endParaRPr lang="zh-TW" sz="1700"/>
          </a:p>
        </p:txBody>
      </p:sp>
      <p:sp>
        <p:nvSpPr>
          <p:cNvPr id="20" name="Rectangle"/>
          <p:cNvSpPr/>
          <p:nvPr/>
        </p:nvSpPr>
        <p:spPr>
          <a:xfrm>
            <a:off x="317500" y="457200"/>
            <a:ext cx="101600" cy="79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21" name="Rectangle"/>
          <p:cNvSpPr/>
          <p:nvPr/>
        </p:nvSpPr>
        <p:spPr>
          <a:xfrm>
            <a:off x="332740" y="472440"/>
            <a:ext cx="31750" cy="5080"/>
          </a:xfrm>
          <a:prstGeom prst="roundRect">
            <a:avLst/>
          </a:prstGeom>
          <a:solidFill>
            <a:srgbClr val="C8891A"/>
          </a:solidFill>
          <a:ln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332740" y="492760"/>
            <a:ext cx="7112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Power</a:t>
            </a:r>
            <a:endParaRPr lang="zh-TW" sz="1800"/>
          </a:p>
        </p:txBody>
      </p:sp>
      <p:sp>
        <p:nvSpPr>
          <p:cNvPr id="23" name="Text"/>
          <p:cNvSpPr txBox="1"/>
          <p:nvPr/>
        </p:nvSpPr>
        <p:spPr>
          <a:xfrm>
            <a:off x="332740" y="515620"/>
            <a:ext cx="7112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INA219</a:t>
            </a:r>
            <a:endParaRPr lang="zh-TW" sz="3600"/>
          </a:p>
        </p:txBody>
      </p:sp>
      <p:sp>
        <p:nvSpPr>
          <p:cNvPr id="24" name="Text"/>
          <p:cNvSpPr txBox="1"/>
          <p:nvPr/>
        </p:nvSpPr>
        <p:spPr>
          <a:xfrm>
            <a:off x="332740" y="553720"/>
            <a:ext cx="71120" cy="-222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電源監測</a:t>
            </a:r>
            <a:endParaRPr lang="zh-TW" sz="1700"/>
          </a:p>
        </p:txBody>
      </p:sp>
      <p:sp>
        <p:nvSpPr>
          <p:cNvPr id="25" name="Rectangle"/>
          <p:cNvSpPr/>
          <p:nvPr/>
        </p:nvSpPr>
        <p:spPr>
          <a:xfrm>
            <a:off x="434340" y="457200"/>
            <a:ext cx="101600" cy="79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26" name="Rectangle"/>
          <p:cNvSpPr/>
          <p:nvPr/>
        </p:nvSpPr>
        <p:spPr>
          <a:xfrm>
            <a:off x="449580" y="472440"/>
            <a:ext cx="31750" cy="5080"/>
          </a:xfrm>
          <a:prstGeom prst="roundRect">
            <a:avLst/>
          </a:prstGeom>
          <a:solidFill>
            <a:srgbClr val="D3543F"/>
          </a:solidFill>
          <a:ln>
            <a:noFill/>
          </a:ln>
        </p:spPr>
      </p:sp>
      <p:sp>
        <p:nvSpPr>
          <p:cNvPr id="27" name="Text"/>
          <p:cNvSpPr txBox="1"/>
          <p:nvPr/>
        </p:nvSpPr>
        <p:spPr>
          <a:xfrm>
            <a:off x="449580" y="492760"/>
            <a:ext cx="7112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Switch</a:t>
            </a:r>
            <a:endParaRPr lang="zh-TW" sz="1800"/>
          </a:p>
        </p:txBody>
      </p:sp>
      <p:sp>
        <p:nvSpPr>
          <p:cNvPr id="28" name="Text"/>
          <p:cNvSpPr txBox="1"/>
          <p:nvPr/>
        </p:nvSpPr>
        <p:spPr>
          <a:xfrm>
            <a:off x="449580" y="515620"/>
            <a:ext cx="7112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AO3401</a:t>
            </a:r>
            <a:endParaRPr lang="zh-TW" sz="3600"/>
          </a:p>
        </p:txBody>
      </p:sp>
      <p:sp>
        <p:nvSpPr>
          <p:cNvPr id="29" name="Text"/>
          <p:cNvSpPr txBox="1"/>
          <p:nvPr/>
        </p:nvSpPr>
        <p:spPr>
          <a:xfrm>
            <a:off x="449580" y="553720"/>
            <a:ext cx="71120" cy="-222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電源切斷</a:t>
            </a:r>
            <a:endParaRPr lang="zh-TW" sz="1700"/>
          </a:p>
        </p:txBody>
      </p:sp>
      <p:sp>
        <p:nvSpPr>
          <p:cNvPr id="3" name="Text"/>
          <p:cNvSpPr txBox="1"/>
          <p:nvPr/>
        </p:nvSpPr>
        <p:spPr>
          <a:xfrm>
            <a:off x="58420" y="633730"/>
            <a:ext cx="39370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STM32F411 Head-Tracking Audio</a:t>
            </a:r>
            <a:endParaRPr lang="zh-TW" sz="1600"/>
          </a:p>
        </p:txBody>
      </p:sp>
      <p:sp>
        <p:nvSpPr>
          <p:cNvPr id="4" name="Text"/>
          <p:cNvSpPr txBox="1"/>
          <p:nvPr/>
        </p:nvSpPr>
        <p:spPr>
          <a:xfrm>
            <a:off x="1041400" y="633730"/>
            <a:ext cx="12065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01 / 11</a:t>
            </a:r>
            <a:endParaRPr lang="zh-TW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0" name="Text"/>
          <p:cNvSpPr txBox="1"/>
          <p:nvPr/>
        </p:nvSpPr>
        <p:spPr>
          <a:xfrm>
            <a:off x="58420" y="49530"/>
            <a:ext cx="3937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b/>
                <a:solidFill>
                  <a:srgbClr val="00857A"/>
                </a:solidFill>
                <a:latin typeface="Aptos"/>
                <a:ea typeface="Microsoft JhengHei"/>
              </a:rPr>
              <a:t>開發流程</a:t>
            </a:r>
            <a:endParaRPr lang="zh-TW" sz="1800"/>
          </a:p>
        </p:txBody>
      </p:sp>
      <p:sp>
        <p:nvSpPr>
          <p:cNvPr id="31" name="Text"/>
          <p:cNvSpPr txBox="1"/>
          <p:nvPr/>
        </p:nvSpPr>
        <p:spPr>
          <a:xfrm>
            <a:off x="58420" y="76200"/>
            <a:ext cx="762000" cy="57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52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從概念到板級設計</a:t>
            </a:r>
            <a:endParaRPr lang="zh-TW" sz="5200"/>
          </a:p>
        </p:txBody>
      </p:sp>
      <p:sp>
        <p:nvSpPr>
          <p:cNvPr id="32" name="Rectangle"/>
          <p:cNvSpPr/>
          <p:nvPr/>
        </p:nvSpPr>
        <p:spPr>
          <a:xfrm>
            <a:off x="58420" y="196850"/>
            <a:ext cx="203200" cy="273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33" name="Rectangle"/>
          <p:cNvSpPr/>
          <p:nvPr/>
        </p:nvSpPr>
        <p:spPr>
          <a:xfrm>
            <a:off x="76200" y="217170"/>
            <a:ext cx="36830" cy="36830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34" name="Text"/>
          <p:cNvSpPr txBox="1"/>
          <p:nvPr/>
        </p:nvSpPr>
        <p:spPr>
          <a:xfrm>
            <a:off x="87630" y="224790"/>
            <a:ext cx="19050" cy="215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TW" sz="22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1</a:t>
            </a:r>
            <a:endParaRPr lang="zh-TW" sz="2200"/>
          </a:p>
        </p:txBody>
      </p:sp>
      <p:sp>
        <p:nvSpPr>
          <p:cNvPr id="35" name="Text"/>
          <p:cNvSpPr txBox="1"/>
          <p:nvPr/>
        </p:nvSpPr>
        <p:spPr>
          <a:xfrm>
            <a:off x="76200" y="273050"/>
            <a:ext cx="165100" cy="44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7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AI 設計專案</a:t>
            </a:r>
            <a:endParaRPr lang="zh-TW" sz="2700"/>
          </a:p>
        </p:txBody>
      </p:sp>
      <p:sp>
        <p:nvSpPr>
          <p:cNvPr id="36" name="Text"/>
          <p:cNvSpPr txBox="1"/>
          <p:nvPr/>
        </p:nvSpPr>
        <p:spPr>
          <a:xfrm>
            <a:off x="76200" y="339725"/>
            <a:ext cx="158750" cy="857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000" dirty="0">
                <a:solidFill>
                  <a:srgbClr val="5B6773"/>
                </a:solidFill>
                <a:latin typeface="Aptos"/>
                <a:ea typeface="Microsoft JhengHei"/>
              </a:rPr>
              <a:t>規劃系統架構、資料流與韌體模組邊界。</a:t>
            </a:r>
            <a:endParaRPr lang="zh-TW" sz="2000"/>
          </a:p>
        </p:txBody>
      </p:sp>
      <p:sp>
        <p:nvSpPr>
          <p:cNvPr id="37" name="Rectangle"/>
          <p:cNvSpPr/>
          <p:nvPr/>
        </p:nvSpPr>
        <p:spPr>
          <a:xfrm>
            <a:off x="281940" y="196850"/>
            <a:ext cx="203200" cy="273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38" name="Rectangle"/>
          <p:cNvSpPr/>
          <p:nvPr/>
        </p:nvSpPr>
        <p:spPr>
          <a:xfrm>
            <a:off x="299720" y="217170"/>
            <a:ext cx="36830" cy="36830"/>
          </a:xfrm>
          <a:prstGeom prst="roundRect">
            <a:avLst/>
          </a:prstGeom>
          <a:solidFill>
            <a:srgbClr val="2F6FBB"/>
          </a:solidFill>
          <a:ln>
            <a:noFill/>
          </a:ln>
        </p:spPr>
      </p:sp>
      <p:sp>
        <p:nvSpPr>
          <p:cNvPr id="39" name="Text"/>
          <p:cNvSpPr txBox="1"/>
          <p:nvPr/>
        </p:nvSpPr>
        <p:spPr>
          <a:xfrm>
            <a:off x="311150" y="224790"/>
            <a:ext cx="19050" cy="215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TW" sz="22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2</a:t>
            </a:r>
            <a:endParaRPr lang="zh-TW" sz="2200"/>
          </a:p>
        </p:txBody>
      </p:sp>
      <p:sp>
        <p:nvSpPr>
          <p:cNvPr id="40" name="Text"/>
          <p:cNvSpPr txBox="1"/>
          <p:nvPr/>
        </p:nvSpPr>
        <p:spPr>
          <a:xfrm>
            <a:off x="299720" y="273050"/>
            <a:ext cx="165100" cy="44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7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麵包板接線</a:t>
            </a:r>
            <a:endParaRPr lang="zh-TW" sz="2700"/>
          </a:p>
        </p:txBody>
      </p:sp>
      <p:sp>
        <p:nvSpPr>
          <p:cNvPr id="41" name="Text"/>
          <p:cNvSpPr txBox="1"/>
          <p:nvPr/>
        </p:nvSpPr>
        <p:spPr>
          <a:xfrm>
            <a:off x="299720" y="339725"/>
            <a:ext cx="158750" cy="857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000" dirty="0">
                <a:solidFill>
                  <a:srgbClr val="5B6773"/>
                </a:solidFill>
                <a:latin typeface="Aptos"/>
                <a:ea typeface="Microsoft JhengHei"/>
              </a:rPr>
              <a:t>把全部元件接上，驗證感測、音訊、電源與 SD。</a:t>
            </a:r>
            <a:endParaRPr lang="zh-TW" sz="2000"/>
          </a:p>
        </p:txBody>
      </p:sp>
      <p:sp>
        <p:nvSpPr>
          <p:cNvPr id="42" name="Rectangle"/>
          <p:cNvSpPr/>
          <p:nvPr/>
        </p:nvSpPr>
        <p:spPr>
          <a:xfrm>
            <a:off x="505460" y="196850"/>
            <a:ext cx="203200" cy="273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43" name="Rectangle"/>
          <p:cNvSpPr/>
          <p:nvPr/>
        </p:nvSpPr>
        <p:spPr>
          <a:xfrm>
            <a:off x="523240" y="217170"/>
            <a:ext cx="36830" cy="36830"/>
          </a:xfrm>
          <a:prstGeom prst="roundRect">
            <a:avLst/>
          </a:prstGeom>
          <a:solidFill>
            <a:srgbClr val="C8891A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534670" y="224790"/>
            <a:ext cx="19050" cy="215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TW" sz="22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3</a:t>
            </a:r>
            <a:endParaRPr lang="zh-TW" sz="2200"/>
          </a:p>
        </p:txBody>
      </p:sp>
      <p:sp>
        <p:nvSpPr>
          <p:cNvPr id="45" name="Text"/>
          <p:cNvSpPr txBox="1"/>
          <p:nvPr/>
        </p:nvSpPr>
        <p:spPr>
          <a:xfrm>
            <a:off x="523240" y="273050"/>
            <a:ext cx="165100" cy="44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7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AI 輔助韌體</a:t>
            </a:r>
            <a:endParaRPr lang="zh-TW" sz="2700"/>
          </a:p>
        </p:txBody>
      </p:sp>
      <p:sp>
        <p:nvSpPr>
          <p:cNvPr id="46" name="Text"/>
          <p:cNvSpPr txBox="1"/>
          <p:nvPr/>
        </p:nvSpPr>
        <p:spPr>
          <a:xfrm>
            <a:off x="523240" y="339725"/>
            <a:ext cx="158750" cy="857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000" dirty="0">
                <a:solidFill>
                  <a:srgbClr val="5B6773"/>
                </a:solidFill>
                <a:latin typeface="Aptos"/>
                <a:ea typeface="Microsoft JhengHei"/>
              </a:rPr>
              <a:t>完成姿態、音訊、模式、故障與 telemetry。</a:t>
            </a:r>
            <a:endParaRPr lang="zh-TW" sz="2000"/>
          </a:p>
        </p:txBody>
      </p:sp>
      <p:sp>
        <p:nvSpPr>
          <p:cNvPr id="47" name="Rectangle"/>
          <p:cNvSpPr/>
          <p:nvPr/>
        </p:nvSpPr>
        <p:spPr>
          <a:xfrm>
            <a:off x="728980" y="196850"/>
            <a:ext cx="203200" cy="273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48" name="Rectangle"/>
          <p:cNvSpPr/>
          <p:nvPr/>
        </p:nvSpPr>
        <p:spPr>
          <a:xfrm>
            <a:off x="746760" y="217170"/>
            <a:ext cx="36830" cy="36830"/>
          </a:xfrm>
          <a:prstGeom prst="roundRect">
            <a:avLst/>
          </a:prstGeom>
          <a:solidFill>
            <a:srgbClr val="2D7A46"/>
          </a:solidFill>
          <a:ln>
            <a:noFill/>
          </a:ln>
        </p:spPr>
      </p:sp>
      <p:sp>
        <p:nvSpPr>
          <p:cNvPr id="49" name="Text"/>
          <p:cNvSpPr txBox="1"/>
          <p:nvPr/>
        </p:nvSpPr>
        <p:spPr>
          <a:xfrm>
            <a:off x="758190" y="224790"/>
            <a:ext cx="19050" cy="215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TW" sz="22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4</a:t>
            </a:r>
            <a:endParaRPr lang="zh-TW" sz="2200"/>
          </a:p>
        </p:txBody>
      </p:sp>
      <p:sp>
        <p:nvSpPr>
          <p:cNvPr id="50" name="Text"/>
          <p:cNvSpPr txBox="1"/>
          <p:nvPr/>
        </p:nvSpPr>
        <p:spPr>
          <a:xfrm>
            <a:off x="746760" y="273050"/>
            <a:ext cx="165100" cy="44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7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桌面 HTML</a:t>
            </a:r>
            <a:endParaRPr lang="zh-TW" sz="2700"/>
          </a:p>
        </p:txBody>
      </p:sp>
      <p:sp>
        <p:nvSpPr>
          <p:cNvPr id="51" name="Text"/>
          <p:cNvSpPr txBox="1"/>
          <p:nvPr/>
        </p:nvSpPr>
        <p:spPr>
          <a:xfrm>
            <a:off x="746760" y="339725"/>
            <a:ext cx="158750" cy="857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000" dirty="0">
                <a:solidFill>
                  <a:srgbClr val="5B6773"/>
                </a:solidFill>
                <a:latin typeface="Aptos"/>
                <a:ea typeface="Microsoft JhengHei"/>
              </a:rPr>
              <a:t>與硬體連線成功，顯示狀態並測試功能。</a:t>
            </a:r>
            <a:endParaRPr lang="zh-TW" sz="2000"/>
          </a:p>
        </p:txBody>
      </p:sp>
      <p:sp>
        <p:nvSpPr>
          <p:cNvPr id="52" name="Rectangle"/>
          <p:cNvSpPr/>
          <p:nvPr/>
        </p:nvSpPr>
        <p:spPr>
          <a:xfrm>
            <a:off x="952500" y="196850"/>
            <a:ext cx="203200" cy="273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53" name="Rectangle"/>
          <p:cNvSpPr/>
          <p:nvPr/>
        </p:nvSpPr>
        <p:spPr>
          <a:xfrm>
            <a:off x="970280" y="217170"/>
            <a:ext cx="36830" cy="36830"/>
          </a:xfrm>
          <a:prstGeom prst="roundRect">
            <a:avLst/>
          </a:prstGeom>
          <a:solidFill>
            <a:srgbClr val="D3543F"/>
          </a:solidFill>
          <a:ln>
            <a:noFill/>
          </a:ln>
        </p:spPr>
      </p:sp>
      <p:sp>
        <p:nvSpPr>
          <p:cNvPr id="54" name="Text"/>
          <p:cNvSpPr txBox="1"/>
          <p:nvPr/>
        </p:nvSpPr>
        <p:spPr>
          <a:xfrm>
            <a:off x="981710" y="224790"/>
            <a:ext cx="19050" cy="215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TW" sz="22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5</a:t>
            </a:r>
            <a:endParaRPr lang="zh-TW" sz="2200"/>
          </a:p>
        </p:txBody>
      </p:sp>
      <p:sp>
        <p:nvSpPr>
          <p:cNvPr id="55" name="Text"/>
          <p:cNvSpPr txBox="1"/>
          <p:nvPr/>
        </p:nvSpPr>
        <p:spPr>
          <a:xfrm>
            <a:off x="970280" y="273050"/>
            <a:ext cx="165100" cy="44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7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Schematic / PCB</a:t>
            </a:r>
            <a:endParaRPr lang="zh-TW" sz="2700"/>
          </a:p>
        </p:txBody>
      </p:sp>
      <p:sp>
        <p:nvSpPr>
          <p:cNvPr id="56" name="Text"/>
          <p:cNvSpPr txBox="1"/>
          <p:nvPr/>
        </p:nvSpPr>
        <p:spPr>
          <a:xfrm>
            <a:off x="970280" y="339725"/>
            <a:ext cx="158750" cy="857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000" dirty="0">
                <a:solidFill>
                  <a:srgbClr val="5B6773"/>
                </a:solidFill>
                <a:latin typeface="Aptos"/>
                <a:ea typeface="Microsoft JhengHei"/>
              </a:rPr>
              <a:t>把模組元件轉為直接 IC 與板級電路連接。</a:t>
            </a:r>
            <a:endParaRPr lang="zh-TW" sz="2000"/>
          </a:p>
        </p:txBody>
      </p:sp>
      <p:sp>
        <p:nvSpPr>
          <p:cNvPr id="3" name="Text"/>
          <p:cNvSpPr txBox="1"/>
          <p:nvPr/>
        </p:nvSpPr>
        <p:spPr>
          <a:xfrm>
            <a:off x="58420" y="633730"/>
            <a:ext cx="39370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STM32F411 Head-Tracking Audio</a:t>
            </a:r>
            <a:endParaRPr lang="zh-TW" sz="1600"/>
          </a:p>
        </p:txBody>
      </p:sp>
      <p:sp>
        <p:nvSpPr>
          <p:cNvPr id="4" name="Text"/>
          <p:cNvSpPr txBox="1"/>
          <p:nvPr/>
        </p:nvSpPr>
        <p:spPr>
          <a:xfrm>
            <a:off x="1041400" y="633730"/>
            <a:ext cx="12065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02 / 11</a:t>
            </a:r>
            <a:endParaRPr lang="zh-TW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57" name="Text"/>
          <p:cNvSpPr txBox="1"/>
          <p:nvPr/>
        </p:nvSpPr>
        <p:spPr>
          <a:xfrm>
            <a:off x="58420" y="49530"/>
            <a:ext cx="3937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b/>
                <a:solidFill>
                  <a:srgbClr val="00857A"/>
                </a:solidFill>
                <a:latin typeface="Aptos"/>
                <a:ea typeface="Microsoft JhengHei"/>
              </a:rPr>
              <a:t>系統架構</a:t>
            </a:r>
            <a:endParaRPr lang="zh-TW" sz="1800"/>
          </a:p>
        </p:txBody>
      </p:sp>
      <p:sp>
        <p:nvSpPr>
          <p:cNvPr id="58" name="Text"/>
          <p:cNvSpPr txBox="1"/>
          <p:nvPr/>
        </p:nvSpPr>
        <p:spPr>
          <a:xfrm>
            <a:off x="58420" y="76200"/>
            <a:ext cx="762000" cy="57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52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姿態輸入控制雙聲道音訊</a:t>
            </a:r>
            <a:endParaRPr lang="zh-TW" sz="5200"/>
          </a:p>
        </p:txBody>
      </p:sp>
      <p:sp>
        <p:nvSpPr>
          <p:cNvPr id="59" name="Rectangle"/>
          <p:cNvSpPr/>
          <p:nvPr/>
        </p:nvSpPr>
        <p:spPr>
          <a:xfrm>
            <a:off x="58420" y="161925"/>
            <a:ext cx="292100" cy="106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60" name="Rectangle"/>
          <p:cNvSpPr/>
          <p:nvPr/>
        </p:nvSpPr>
        <p:spPr>
          <a:xfrm>
            <a:off x="73660" y="177165"/>
            <a:ext cx="31750" cy="5080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61" name="Text"/>
          <p:cNvSpPr txBox="1"/>
          <p:nvPr/>
        </p:nvSpPr>
        <p:spPr>
          <a:xfrm>
            <a:off x="73660" y="197485"/>
            <a:ext cx="26162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Controller</a:t>
            </a:r>
            <a:endParaRPr lang="zh-TW" sz="1800"/>
          </a:p>
        </p:txBody>
      </p:sp>
      <p:sp>
        <p:nvSpPr>
          <p:cNvPr id="62" name="Text"/>
          <p:cNvSpPr txBox="1"/>
          <p:nvPr/>
        </p:nvSpPr>
        <p:spPr>
          <a:xfrm>
            <a:off x="73660" y="220345"/>
            <a:ext cx="26162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STM32F411</a:t>
            </a:r>
            <a:endParaRPr lang="zh-TW" sz="3600"/>
          </a:p>
        </p:txBody>
      </p:sp>
      <p:sp>
        <p:nvSpPr>
          <p:cNvPr id="63" name="Text"/>
          <p:cNvSpPr txBox="1"/>
          <p:nvPr/>
        </p:nvSpPr>
        <p:spPr>
          <a:xfrm>
            <a:off x="73660" y="258445"/>
            <a:ext cx="261620" cy="5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HAL / CubeMX 初始化，App_MainLoop 排程。</a:t>
            </a:r>
            <a:endParaRPr lang="zh-TW" sz="1700"/>
          </a:p>
        </p:txBody>
      </p:sp>
      <p:sp>
        <p:nvSpPr>
          <p:cNvPr id="64" name="Rectangle"/>
          <p:cNvSpPr/>
          <p:nvPr/>
        </p:nvSpPr>
        <p:spPr>
          <a:xfrm>
            <a:off x="58420" y="288925"/>
            <a:ext cx="292100" cy="106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65" name="Rectangle"/>
          <p:cNvSpPr/>
          <p:nvPr/>
        </p:nvSpPr>
        <p:spPr>
          <a:xfrm>
            <a:off x="73660" y="304165"/>
            <a:ext cx="31750" cy="5080"/>
          </a:xfrm>
          <a:prstGeom prst="roundRect">
            <a:avLst/>
          </a:prstGeom>
          <a:solidFill>
            <a:srgbClr val="2F6FBB"/>
          </a:solidFill>
          <a:ln>
            <a:noFill/>
          </a:ln>
        </p:spPr>
      </p:sp>
      <p:sp>
        <p:nvSpPr>
          <p:cNvPr id="66" name="Text"/>
          <p:cNvSpPr txBox="1"/>
          <p:nvPr/>
        </p:nvSpPr>
        <p:spPr>
          <a:xfrm>
            <a:off x="73660" y="324485"/>
            <a:ext cx="26162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Sensor</a:t>
            </a:r>
            <a:endParaRPr lang="zh-TW" sz="1800"/>
          </a:p>
        </p:txBody>
      </p:sp>
      <p:sp>
        <p:nvSpPr>
          <p:cNvPr id="67" name="Text"/>
          <p:cNvSpPr txBox="1"/>
          <p:nvPr/>
        </p:nvSpPr>
        <p:spPr>
          <a:xfrm>
            <a:off x="73660" y="347345"/>
            <a:ext cx="26162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MPU6500</a:t>
            </a:r>
            <a:endParaRPr lang="zh-TW" sz="3600"/>
          </a:p>
        </p:txBody>
      </p:sp>
      <p:sp>
        <p:nvSpPr>
          <p:cNvPr id="68" name="Text"/>
          <p:cNvSpPr txBox="1"/>
          <p:nvPr/>
        </p:nvSpPr>
        <p:spPr>
          <a:xfrm>
            <a:off x="73660" y="385445"/>
            <a:ext cx="261620" cy="5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I2C1 讀取 raw accel，計算 roll / pitch。</a:t>
            </a:r>
            <a:endParaRPr lang="zh-TW" sz="1700"/>
          </a:p>
        </p:txBody>
      </p:sp>
      <p:sp>
        <p:nvSpPr>
          <p:cNvPr id="69" name="Rectangle"/>
          <p:cNvSpPr/>
          <p:nvPr/>
        </p:nvSpPr>
        <p:spPr>
          <a:xfrm>
            <a:off x="58420" y="415925"/>
            <a:ext cx="292100" cy="106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70" name="Rectangle"/>
          <p:cNvSpPr/>
          <p:nvPr/>
        </p:nvSpPr>
        <p:spPr>
          <a:xfrm>
            <a:off x="73660" y="431165"/>
            <a:ext cx="31750" cy="5080"/>
          </a:xfrm>
          <a:prstGeom prst="roundRect">
            <a:avLst/>
          </a:prstGeom>
          <a:solidFill>
            <a:srgbClr val="C8891A"/>
          </a:solidFill>
          <a:ln>
            <a:noFill/>
          </a:ln>
        </p:spPr>
      </p:sp>
      <p:sp>
        <p:nvSpPr>
          <p:cNvPr id="71" name="Text"/>
          <p:cNvSpPr txBox="1"/>
          <p:nvPr/>
        </p:nvSpPr>
        <p:spPr>
          <a:xfrm>
            <a:off x="73660" y="451485"/>
            <a:ext cx="26162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Audio</a:t>
            </a:r>
            <a:endParaRPr lang="zh-TW" sz="1800"/>
          </a:p>
        </p:txBody>
      </p:sp>
      <p:sp>
        <p:nvSpPr>
          <p:cNvPr id="72" name="Text"/>
          <p:cNvSpPr txBox="1"/>
          <p:nvPr/>
        </p:nvSpPr>
        <p:spPr>
          <a:xfrm>
            <a:off x="73660" y="474345"/>
            <a:ext cx="26162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2x I2S DMA</a:t>
            </a:r>
            <a:endParaRPr lang="zh-TW" sz="3600"/>
          </a:p>
        </p:txBody>
      </p:sp>
      <p:sp>
        <p:nvSpPr>
          <p:cNvPr id="73" name="Text"/>
          <p:cNvSpPr txBox="1"/>
          <p:nvPr/>
        </p:nvSpPr>
        <p:spPr>
          <a:xfrm>
            <a:off x="73660" y="512445"/>
            <a:ext cx="261620" cy="5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I2S2 / I2S3 驅動左右 MAX98357A。</a:t>
            </a:r>
            <a:endParaRPr lang="zh-TW" sz="1700"/>
          </a:p>
        </p:txBody>
      </p:sp>
      <p:sp>
        <p:nvSpPr>
          <p:cNvPr id="74" name="Rectangle"/>
          <p:cNvSpPr/>
          <p:nvPr/>
        </p:nvSpPr>
        <p:spPr>
          <a:xfrm>
            <a:off x="412750" y="161925"/>
            <a:ext cx="711200" cy="36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75" name="Text"/>
          <p:cNvSpPr txBox="1"/>
          <p:nvPr/>
        </p:nvSpPr>
        <p:spPr>
          <a:xfrm>
            <a:off x="447675" y="193675"/>
            <a:ext cx="641350" cy="292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700" dirty="0">
                <a:solidFill>
                  <a:srgbClr val="17202A"/>
                </a:solidFill>
                <a:latin typeface="Aptos"/>
                <a:ea typeface="Microsoft JhengHei"/>
              </a:rPr>
              <a:t>MPU6500 raw data</a:t>
            </a:r>
            <a:endParaRPr lang="zh-TW" sz="2700"/>
          </a:p>
          <a:p>
            <a:r>
              <a:rPr lang="zh-TW" sz="2700" dirty="0">
                <a:solidFill>
                  <a:srgbClr val="17202A"/>
                </a:solidFill>
                <a:latin typeface="Aptos"/>
                <a:ea typeface="Microsoft JhengHei"/>
              </a:rPr>
              <a:t>  -&gt; roll / pitch calculation</a:t>
            </a:r>
            <a:endParaRPr lang="zh-TW" sz="2700"/>
          </a:p>
          <a:p>
            <a:r>
              <a:rPr lang="zh-TW" sz="2700" dirty="0">
                <a:solidFill>
                  <a:srgbClr val="17202A"/>
                </a:solidFill>
                <a:latin typeface="Aptos"/>
                <a:ea typeface="Microsoft JhengHei"/>
              </a:rPr>
              <a:t>  -&gt; low-pass filter</a:t>
            </a:r>
            <a:endParaRPr lang="zh-TW" sz="2700"/>
          </a:p>
          <a:p>
            <a:r>
              <a:rPr lang="zh-TW" sz="2700" dirty="0">
                <a:solidFill>
                  <a:srgbClr val="17202A"/>
                </a:solidFill>
                <a:latin typeface="Aptos"/>
                <a:ea typeface="Microsoft JhengHei"/>
              </a:rPr>
              <a:t>  -&gt; head state machine</a:t>
            </a:r>
            <a:endParaRPr lang="zh-TW" sz="2700"/>
          </a:p>
          <a:p>
            <a:r>
              <a:rPr lang="zh-TW" sz="2700" dirty="0">
                <a:solidFill>
                  <a:srgbClr val="17202A"/>
                </a:solidFill>
                <a:latin typeface="Aptos"/>
                <a:ea typeface="Microsoft JhengHei"/>
              </a:rPr>
              <a:t>  -&gt; audio control</a:t>
            </a:r>
            <a:endParaRPr lang="zh-TW" sz="2700"/>
          </a:p>
          <a:p>
            <a:r>
              <a:rPr lang="zh-TW" sz="2700" dirty="0">
                <a:solidFill>
                  <a:srgbClr val="17202A"/>
                </a:solidFill>
                <a:latin typeface="Aptos"/>
                <a:ea typeface="Microsoft JhengHei"/>
              </a:rPr>
              <a:t>  -&gt; volume smoother</a:t>
            </a:r>
            <a:endParaRPr lang="zh-TW" sz="2700"/>
          </a:p>
          <a:p>
            <a:r>
              <a:rPr lang="zh-TW" sz="2700" dirty="0">
                <a:solidFill>
                  <a:srgbClr val="17202A"/>
                </a:solidFill>
                <a:latin typeface="Aptos"/>
                <a:ea typeface="Microsoft JhengHei"/>
              </a:rPr>
              <a:t>  -&gt; I2S DMA output</a:t>
            </a:r>
            <a:endParaRPr lang="zh-TW" sz="2700"/>
          </a:p>
          <a:p>
            <a:r>
              <a:rPr lang="zh-TW" sz="2700" dirty="0">
                <a:solidFill>
                  <a:srgbClr val="17202A"/>
                </a:solidFill>
                <a:latin typeface="Aptos"/>
                <a:ea typeface="Microsoft JhengHei"/>
              </a:rPr>
              <a:t/>
            </a:r>
            <a:endParaRPr lang="zh-TW" sz="2700"/>
          </a:p>
          <a:p>
            <a:r>
              <a:rPr lang="zh-TW" sz="2700" dirty="0">
                <a:solidFill>
                  <a:srgbClr val="17202A"/>
                </a:solidFill>
                <a:latin typeface="Aptos"/>
                <a:ea typeface="Microsoft JhengHei"/>
              </a:rPr>
              <a:t>Telemetry / CSV</a:t>
            </a:r>
            <a:endParaRPr lang="zh-TW" sz="2700"/>
          </a:p>
          <a:p>
            <a:r>
              <a:rPr lang="zh-TW" sz="2700" dirty="0">
                <a:solidFill>
                  <a:srgbClr val="17202A"/>
                </a:solidFill>
                <a:latin typeface="Aptos"/>
                <a:ea typeface="Microsoft JhengHei"/>
              </a:rPr>
              <a:t>  -&gt; desktop HTML page</a:t>
            </a:r>
            <a:endParaRPr lang="zh-TW" sz="2700"/>
          </a:p>
          <a:p>
            <a:r>
              <a:rPr lang="zh-TW" sz="2700" dirty="0">
                <a:solidFill>
                  <a:srgbClr val="17202A"/>
                </a:solidFill>
                <a:latin typeface="Aptos"/>
                <a:ea typeface="Microsoft JhengHei"/>
              </a:rPr>
              <a:t>  -&gt; log analysis</a:t>
            </a:r>
            <a:endParaRPr lang="zh-TW" sz="2700"/>
          </a:p>
        </p:txBody>
      </p:sp>
      <p:sp>
        <p:nvSpPr>
          <p:cNvPr id="3" name="Text"/>
          <p:cNvSpPr txBox="1"/>
          <p:nvPr/>
        </p:nvSpPr>
        <p:spPr>
          <a:xfrm>
            <a:off x="58420" y="633730"/>
            <a:ext cx="39370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STM32F411 Head-Tracking Audio</a:t>
            </a:r>
            <a:endParaRPr lang="zh-TW" sz="1600"/>
          </a:p>
        </p:txBody>
      </p:sp>
      <p:sp>
        <p:nvSpPr>
          <p:cNvPr id="4" name="Text"/>
          <p:cNvSpPr txBox="1"/>
          <p:nvPr/>
        </p:nvSpPr>
        <p:spPr>
          <a:xfrm>
            <a:off x="1041400" y="633730"/>
            <a:ext cx="12065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03 / 11</a:t>
            </a:r>
            <a:endParaRPr lang="zh-TW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76" name="Text"/>
          <p:cNvSpPr txBox="1"/>
          <p:nvPr/>
        </p:nvSpPr>
        <p:spPr>
          <a:xfrm>
            <a:off x="58420" y="54610"/>
            <a:ext cx="3302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b/>
                <a:solidFill>
                  <a:srgbClr val="00857A"/>
                </a:solidFill>
                <a:latin typeface="Aptos"/>
                <a:ea typeface="Microsoft JhengHei"/>
              </a:rPr>
              <a:t>硬體原型</a:t>
            </a:r>
            <a:endParaRPr lang="zh-TW" sz="1800"/>
          </a:p>
        </p:txBody>
      </p:sp>
      <p:sp>
        <p:nvSpPr>
          <p:cNvPr id="77" name="Text"/>
          <p:cNvSpPr txBox="1"/>
          <p:nvPr/>
        </p:nvSpPr>
        <p:spPr>
          <a:xfrm>
            <a:off x="58420" y="83820"/>
            <a:ext cx="361950" cy="82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44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麵包板完成全部元件接線</a:t>
            </a:r>
            <a:endParaRPr lang="zh-TW" sz="4400"/>
          </a:p>
        </p:txBody>
      </p:sp>
      <p:sp>
        <p:nvSpPr>
          <p:cNvPr id="78" name="Text"/>
          <p:cNvSpPr txBox="1"/>
          <p:nvPr/>
        </p:nvSpPr>
        <p:spPr>
          <a:xfrm>
            <a:off x="58420" y="185420"/>
            <a:ext cx="374650" cy="69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300" dirty="0">
                <a:solidFill>
                  <a:srgbClr val="5B6773"/>
                </a:solidFill>
                <a:latin typeface="Aptos"/>
                <a:ea typeface="Microsoft JhengHei"/>
              </a:rPr>
              <a:t>先用模組快速驗證電氣與通訊可行性，再把確認可運作的連接轉成 schematic 與 PCB。</a:t>
            </a:r>
            <a:endParaRPr lang="zh-TW" sz="2300"/>
          </a:p>
        </p:txBody>
      </p:sp>
      <p:sp>
        <p:nvSpPr>
          <p:cNvPr id="79" name="Rectangle"/>
          <p:cNvSpPr/>
          <p:nvPr/>
        </p:nvSpPr>
        <p:spPr>
          <a:xfrm>
            <a:off x="58420" y="29591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80" name="Text"/>
          <p:cNvSpPr txBox="1"/>
          <p:nvPr/>
        </p:nvSpPr>
        <p:spPr>
          <a:xfrm>
            <a:off x="73660" y="288925"/>
            <a:ext cx="372110" cy="30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200" dirty="0">
                <a:solidFill>
                  <a:srgbClr val="17202A"/>
                </a:solidFill>
                <a:latin typeface="Aptos"/>
                <a:ea typeface="Microsoft JhengHei"/>
              </a:rPr>
              <a:t>MPU6500 I2C 姿態感測正常。</a:t>
            </a:r>
            <a:endParaRPr lang="zh-TW" sz="2200"/>
          </a:p>
        </p:txBody>
      </p:sp>
      <p:sp>
        <p:nvSpPr>
          <p:cNvPr id="81" name="Rectangle"/>
          <p:cNvSpPr/>
          <p:nvPr/>
        </p:nvSpPr>
        <p:spPr>
          <a:xfrm>
            <a:off x="58420" y="32639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82" name="Text"/>
          <p:cNvSpPr txBox="1"/>
          <p:nvPr/>
        </p:nvSpPr>
        <p:spPr>
          <a:xfrm>
            <a:off x="73660" y="319405"/>
            <a:ext cx="372110" cy="30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200" dirty="0">
                <a:solidFill>
                  <a:srgbClr val="17202A"/>
                </a:solidFill>
                <a:latin typeface="Aptos"/>
                <a:ea typeface="Microsoft JhengHei"/>
              </a:rPr>
              <a:t>左右 MAX98357A 由 I2S2 / I2S3 輸出音訊。</a:t>
            </a:r>
            <a:endParaRPr lang="zh-TW" sz="2200"/>
          </a:p>
        </p:txBody>
      </p:sp>
      <p:sp>
        <p:nvSpPr>
          <p:cNvPr id="83" name="Rectangle"/>
          <p:cNvSpPr/>
          <p:nvPr/>
        </p:nvSpPr>
        <p:spPr>
          <a:xfrm>
            <a:off x="58420" y="35687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84" name="Text"/>
          <p:cNvSpPr txBox="1"/>
          <p:nvPr/>
        </p:nvSpPr>
        <p:spPr>
          <a:xfrm>
            <a:off x="73660" y="349885"/>
            <a:ext cx="372110" cy="30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200" dirty="0">
                <a:solidFill>
                  <a:srgbClr val="17202A"/>
                </a:solidFill>
                <a:latin typeface="Aptos"/>
                <a:ea typeface="Microsoft JhengHei"/>
              </a:rPr>
              <a:t>INA219 量測音訊電源軌電壓與電流。</a:t>
            </a:r>
            <a:endParaRPr lang="zh-TW" sz="2200"/>
          </a:p>
        </p:txBody>
      </p:sp>
      <p:sp>
        <p:nvSpPr>
          <p:cNvPr id="85" name="Rectangle"/>
          <p:cNvSpPr/>
          <p:nvPr/>
        </p:nvSpPr>
        <p:spPr>
          <a:xfrm>
            <a:off x="58420" y="38735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86" name="Text"/>
          <p:cNvSpPr txBox="1"/>
          <p:nvPr/>
        </p:nvSpPr>
        <p:spPr>
          <a:xfrm>
            <a:off x="73660" y="380365"/>
            <a:ext cx="372110" cy="30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200" dirty="0">
                <a:solidFill>
                  <a:srgbClr val="17202A"/>
                </a:solidFill>
                <a:latin typeface="Aptos"/>
                <a:ea typeface="Microsoft JhengHei"/>
              </a:rPr>
              <a:t>AO3401 控制 LOW_POWER 音訊供電切斷。</a:t>
            </a:r>
            <a:endParaRPr lang="zh-TW" sz="2200"/>
          </a:p>
        </p:txBody>
      </p:sp>
      <p:sp>
        <p:nvSpPr>
          <p:cNvPr id="87" name="Rectangle"/>
          <p:cNvSpPr/>
          <p:nvPr/>
        </p:nvSpPr>
        <p:spPr>
          <a:xfrm>
            <a:off x="58420" y="41783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88" name="Text"/>
          <p:cNvSpPr txBox="1"/>
          <p:nvPr/>
        </p:nvSpPr>
        <p:spPr>
          <a:xfrm>
            <a:off x="73660" y="410845"/>
            <a:ext cx="372110" cy="30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200" dirty="0">
                <a:solidFill>
                  <a:srgbClr val="17202A"/>
                </a:solidFill>
                <a:latin typeface="Aptos"/>
                <a:ea typeface="Microsoft JhengHei"/>
              </a:rPr>
              <a:t>MicroSD 可寫入 CSV log。</a:t>
            </a:r>
            <a:endParaRPr lang="zh-TW" sz="2200"/>
          </a:p>
        </p:txBody>
      </p:sp>
      <p:sp>
        <p:nvSpPr>
          <p:cNvPr id="89" name="Rectangle"/>
          <p:cNvSpPr/>
          <p:nvPr/>
        </p:nvSpPr>
        <p:spPr>
          <a:xfrm>
            <a:off x="473075" y="58420"/>
            <a:ext cx="679450" cy="520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pic>
        <p:nvPicPr>
          <p:cNvPr id="90" name="Breadboard prototype"/>
          <p:cNvPicPr/>
          <p:nvPr/>
        </p:nvPicPr>
        <p:blipFill>
          <a:blip r:embed="rId2"/>
          <a:stretch>
            <a:fillRect/>
          </a:stretch>
        </p:blipFill>
        <p:spPr>
          <a:xfrm>
            <a:off x="478155" y="63500"/>
            <a:ext cx="669290" cy="510540"/>
          </a:xfrm>
          <a:prstGeom prst="rect">
            <a:avLst/>
          </a:prstGeom>
        </p:spPr>
      </p:pic>
      <p:sp>
        <p:nvSpPr>
          <p:cNvPr id="91" name="Rectangle"/>
          <p:cNvSpPr/>
          <p:nvPr/>
        </p:nvSpPr>
        <p:spPr>
          <a:xfrm>
            <a:off x="485775" y="544830"/>
            <a:ext cx="158750" cy="22860"/>
          </a:xfrm>
          <a:prstGeom prst="roundRect">
            <a:avLst/>
          </a:prstGeom>
          <a:solidFill>
            <a:srgbClr val="1F2B37"/>
          </a:solidFill>
          <a:ln>
            <a:noFill/>
          </a:ln>
        </p:spPr>
      </p:sp>
      <p:sp>
        <p:nvSpPr>
          <p:cNvPr id="92" name="Text"/>
          <p:cNvSpPr txBox="1"/>
          <p:nvPr/>
        </p:nvSpPr>
        <p:spPr>
          <a:xfrm>
            <a:off x="493395" y="548640"/>
            <a:ext cx="142875" cy="15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Breadboard prototype</a:t>
            </a:r>
            <a:endParaRPr lang="zh-TW" sz="1500"/>
          </a:p>
        </p:txBody>
      </p:sp>
      <p:sp>
        <p:nvSpPr>
          <p:cNvPr id="3" name="Text"/>
          <p:cNvSpPr txBox="1"/>
          <p:nvPr/>
        </p:nvSpPr>
        <p:spPr>
          <a:xfrm>
            <a:off x="58420" y="633730"/>
            <a:ext cx="39370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STM32F411 Head-Tracking Audio</a:t>
            </a:r>
            <a:endParaRPr lang="zh-TW" sz="1600"/>
          </a:p>
        </p:txBody>
      </p:sp>
      <p:sp>
        <p:nvSpPr>
          <p:cNvPr id="4" name="Text"/>
          <p:cNvSpPr txBox="1"/>
          <p:nvPr/>
        </p:nvSpPr>
        <p:spPr>
          <a:xfrm>
            <a:off x="1041400" y="633730"/>
            <a:ext cx="12065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04 / 11</a:t>
            </a:r>
            <a:endParaRPr lang="zh-TW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93" name="Text"/>
          <p:cNvSpPr txBox="1"/>
          <p:nvPr/>
        </p:nvSpPr>
        <p:spPr>
          <a:xfrm>
            <a:off x="58420" y="49530"/>
            <a:ext cx="3937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b/>
                <a:solidFill>
                  <a:srgbClr val="00857A"/>
                </a:solidFill>
                <a:latin typeface="Aptos"/>
                <a:ea typeface="Microsoft JhengHei"/>
              </a:rPr>
              <a:t>韌體完成項目</a:t>
            </a:r>
            <a:endParaRPr lang="zh-TW" sz="1800"/>
          </a:p>
        </p:txBody>
      </p:sp>
      <p:sp>
        <p:nvSpPr>
          <p:cNvPr id="94" name="Text"/>
          <p:cNvSpPr txBox="1"/>
          <p:nvPr/>
        </p:nvSpPr>
        <p:spPr>
          <a:xfrm>
            <a:off x="58420" y="76200"/>
            <a:ext cx="762000" cy="57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48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主迴圈整合感測、音訊與電源策略</a:t>
            </a:r>
            <a:endParaRPr lang="zh-TW" sz="4800"/>
          </a:p>
        </p:txBody>
      </p:sp>
      <p:sp>
        <p:nvSpPr>
          <p:cNvPr id="95" name="Rectangle"/>
          <p:cNvSpPr/>
          <p:nvPr/>
        </p:nvSpPr>
        <p:spPr>
          <a:xfrm>
            <a:off x="58420" y="161925"/>
            <a:ext cx="517525" cy="361950"/>
          </a:xfrm>
          <a:prstGeom prst="roundRect">
            <a:avLst/>
          </a:prstGeom>
          <a:solidFill>
            <a:srgbClr val="1F2B37"/>
          </a:solidFill>
          <a:ln>
            <a:noFill/>
          </a:ln>
        </p:spPr>
      </p:sp>
      <p:sp>
        <p:nvSpPr>
          <p:cNvPr id="96" name="Text"/>
          <p:cNvSpPr txBox="1"/>
          <p:nvPr/>
        </p:nvSpPr>
        <p:spPr>
          <a:xfrm>
            <a:off x="85725" y="193675"/>
            <a:ext cx="469900" cy="298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>Reset</a:t>
            </a:r>
            <a:endParaRPr lang="zh-TW" sz="2400"/>
          </a:p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>  -&gt; main()</a:t>
            </a:r>
            <a:endParaRPr lang="zh-TW" sz="2400"/>
          </a:p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>  -&gt; HAL / peripheral init</a:t>
            </a:r>
            <a:endParaRPr lang="zh-TW" sz="2400"/>
          </a:p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>  -&gt; App_Init()</a:t>
            </a:r>
            <a:endParaRPr lang="zh-TW" sz="2400"/>
          </a:p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>  -&gt; while (1)</a:t>
            </a:r>
            <a:endParaRPr lang="zh-TW" sz="2400"/>
          </a:p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>       -&gt; App_MainLoop()</a:t>
            </a:r>
            <a:endParaRPr lang="zh-TW" sz="2400"/>
          </a:p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/>
            </a:r>
            <a:endParaRPr lang="zh-TW" sz="2400"/>
          </a:p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>App_MainLoop</a:t>
            </a:r>
            <a:endParaRPr lang="zh-TW" sz="2400"/>
          </a:p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>  button / fault / power</a:t>
            </a:r>
            <a:endParaRPr lang="zh-TW" sz="2400"/>
          </a:p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>  IMU read / filter</a:t>
            </a:r>
            <a:endParaRPr lang="zh-TW" sz="2400"/>
          </a:p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>  head state</a:t>
            </a:r>
            <a:endParaRPr lang="zh-TW" sz="2400"/>
          </a:p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>  audio target</a:t>
            </a:r>
            <a:endParaRPr lang="zh-TW" sz="2400"/>
          </a:p>
          <a:p>
            <a:r>
              <a:rPr lang="zh-TW" sz="2400" dirty="0">
                <a:solidFill>
                  <a:srgbClr val="EFF5F8"/>
                </a:solidFill>
                <a:latin typeface="Aptos"/>
                <a:ea typeface="Microsoft JhengHei"/>
              </a:rPr>
              <a:t>  telemetry / CSV</a:t>
            </a:r>
            <a:endParaRPr lang="zh-TW" sz="2400"/>
          </a:p>
        </p:txBody>
      </p:sp>
      <p:sp>
        <p:nvSpPr>
          <p:cNvPr id="97" name="Rectangle"/>
          <p:cNvSpPr/>
          <p:nvPr/>
        </p:nvSpPr>
        <p:spPr>
          <a:xfrm>
            <a:off x="606425" y="161925"/>
            <a:ext cx="520700" cy="361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98" name="Rectangle"/>
          <p:cNvSpPr/>
          <p:nvPr/>
        </p:nvSpPr>
        <p:spPr>
          <a:xfrm>
            <a:off x="635000" y="20701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99" name="Text"/>
          <p:cNvSpPr txBox="1"/>
          <p:nvPr/>
        </p:nvSpPr>
        <p:spPr>
          <a:xfrm>
            <a:off x="650240" y="200025"/>
            <a:ext cx="441960" cy="469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solidFill>
                  <a:srgbClr val="17202A"/>
                </a:solidFill>
                <a:latin typeface="Aptos"/>
                <a:ea typeface="Microsoft JhengHei"/>
              </a:rPr>
              <a:t>ACTIVE、MUTED、LOW_POWER、DIAGNOSTIC、FAULT 模式。</a:t>
            </a:r>
            <a:endParaRPr lang="zh-TW" sz="2400"/>
          </a:p>
        </p:txBody>
      </p:sp>
      <p:sp>
        <p:nvSpPr>
          <p:cNvPr id="100" name="Rectangle"/>
          <p:cNvSpPr/>
          <p:nvPr/>
        </p:nvSpPr>
        <p:spPr>
          <a:xfrm>
            <a:off x="635000" y="25400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101" name="Text"/>
          <p:cNvSpPr txBox="1"/>
          <p:nvPr/>
        </p:nvSpPr>
        <p:spPr>
          <a:xfrm>
            <a:off x="650240" y="247015"/>
            <a:ext cx="441960" cy="469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solidFill>
                  <a:srgbClr val="17202A"/>
                </a:solidFill>
                <a:latin typeface="Aptos"/>
                <a:ea typeface="Microsoft JhengHei"/>
              </a:rPr>
              <a:t>CENTER、LEFT、RIGHT、DOWN、UP 頭部狀態機。</a:t>
            </a:r>
            <a:endParaRPr lang="zh-TW" sz="2400"/>
          </a:p>
        </p:txBody>
      </p:sp>
      <p:sp>
        <p:nvSpPr>
          <p:cNvPr id="102" name="Rectangle"/>
          <p:cNvSpPr/>
          <p:nvPr/>
        </p:nvSpPr>
        <p:spPr>
          <a:xfrm>
            <a:off x="635000" y="30099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103" name="Text"/>
          <p:cNvSpPr txBox="1"/>
          <p:nvPr/>
        </p:nvSpPr>
        <p:spPr>
          <a:xfrm>
            <a:off x="650240" y="294005"/>
            <a:ext cx="441960" cy="469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solidFill>
                  <a:srgbClr val="17202A"/>
                </a:solidFill>
                <a:latin typeface="Aptos"/>
                <a:ea typeface="Microsoft JhengHei"/>
              </a:rPr>
              <a:t>roll-based stereo panning 與 HEAD_DOWN mute。</a:t>
            </a:r>
            <a:endParaRPr lang="zh-TW" sz="2400"/>
          </a:p>
        </p:txBody>
      </p:sp>
      <p:sp>
        <p:nvSpPr>
          <p:cNvPr id="104" name="Rectangle"/>
          <p:cNvSpPr/>
          <p:nvPr/>
        </p:nvSpPr>
        <p:spPr>
          <a:xfrm>
            <a:off x="635000" y="34798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105" name="Text"/>
          <p:cNvSpPr txBox="1"/>
          <p:nvPr/>
        </p:nvSpPr>
        <p:spPr>
          <a:xfrm>
            <a:off x="650240" y="340995"/>
            <a:ext cx="441960" cy="469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solidFill>
                  <a:srgbClr val="17202A"/>
                </a:solidFill>
                <a:latin typeface="Aptos"/>
                <a:ea typeface="Microsoft JhengHei"/>
              </a:rPr>
              <a:t>fault flags、LED 狀態、按鍵短按與長按。</a:t>
            </a:r>
            <a:endParaRPr lang="zh-TW" sz="2400"/>
          </a:p>
        </p:txBody>
      </p:sp>
      <p:sp>
        <p:nvSpPr>
          <p:cNvPr id="106" name="Rectangle"/>
          <p:cNvSpPr/>
          <p:nvPr/>
        </p:nvSpPr>
        <p:spPr>
          <a:xfrm>
            <a:off x="635000" y="39497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107" name="Text"/>
          <p:cNvSpPr txBox="1"/>
          <p:nvPr/>
        </p:nvSpPr>
        <p:spPr>
          <a:xfrm>
            <a:off x="650240" y="387985"/>
            <a:ext cx="441960" cy="469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solidFill>
                  <a:srgbClr val="17202A"/>
                </a:solidFill>
                <a:latin typeface="Aptos"/>
                <a:ea typeface="Microsoft JhengHei"/>
              </a:rPr>
              <a:t>SIM / SIM2 / SIM3 / PWR telemetry 與 MicroSD CSV。</a:t>
            </a:r>
            <a:endParaRPr lang="zh-TW" sz="2400"/>
          </a:p>
        </p:txBody>
      </p:sp>
      <p:sp>
        <p:nvSpPr>
          <p:cNvPr id="3" name="Text"/>
          <p:cNvSpPr txBox="1"/>
          <p:nvPr/>
        </p:nvSpPr>
        <p:spPr>
          <a:xfrm>
            <a:off x="58420" y="633730"/>
            <a:ext cx="39370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STM32F411 Head-Tracking Audio</a:t>
            </a:r>
            <a:endParaRPr lang="zh-TW" sz="1600"/>
          </a:p>
        </p:txBody>
      </p:sp>
      <p:sp>
        <p:nvSpPr>
          <p:cNvPr id="4" name="Text"/>
          <p:cNvSpPr txBox="1"/>
          <p:nvPr/>
        </p:nvSpPr>
        <p:spPr>
          <a:xfrm>
            <a:off x="1041400" y="633730"/>
            <a:ext cx="12065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05 / 11</a:t>
            </a:r>
            <a:endParaRPr lang="zh-TW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108" name="Text"/>
          <p:cNvSpPr txBox="1"/>
          <p:nvPr/>
        </p:nvSpPr>
        <p:spPr>
          <a:xfrm>
            <a:off x="58420" y="49530"/>
            <a:ext cx="3937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b/>
                <a:solidFill>
                  <a:srgbClr val="00857A"/>
                </a:solidFill>
                <a:latin typeface="Aptos"/>
                <a:ea typeface="Microsoft JhengHei"/>
              </a:rPr>
              <a:t>頭部控制音訊</a:t>
            </a:r>
            <a:endParaRPr lang="zh-TW" sz="1800"/>
          </a:p>
        </p:txBody>
      </p:sp>
      <p:sp>
        <p:nvSpPr>
          <p:cNvPr id="109" name="Text"/>
          <p:cNvSpPr txBox="1"/>
          <p:nvPr/>
        </p:nvSpPr>
        <p:spPr>
          <a:xfrm>
            <a:off x="58420" y="76200"/>
            <a:ext cx="762000" cy="57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52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用姿態改變左右聲道輸出</a:t>
            </a:r>
            <a:endParaRPr lang="zh-TW" sz="5200"/>
          </a:p>
        </p:txBody>
      </p:sp>
      <p:sp>
        <p:nvSpPr>
          <p:cNvPr id="110" name="Rectangle"/>
          <p:cNvSpPr/>
          <p:nvPr/>
        </p:nvSpPr>
        <p:spPr>
          <a:xfrm>
            <a:off x="58420" y="180975"/>
            <a:ext cx="260350" cy="1365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11" name="Rectangle"/>
          <p:cNvSpPr/>
          <p:nvPr/>
        </p:nvSpPr>
        <p:spPr>
          <a:xfrm>
            <a:off x="73660" y="196215"/>
            <a:ext cx="31750" cy="5080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112" name="Text"/>
          <p:cNvSpPr txBox="1"/>
          <p:nvPr/>
        </p:nvSpPr>
        <p:spPr>
          <a:xfrm>
            <a:off x="73660" y="216535"/>
            <a:ext cx="22987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CENTER</a:t>
            </a:r>
            <a:endParaRPr lang="zh-TW" sz="1800"/>
          </a:p>
        </p:txBody>
      </p:sp>
      <p:sp>
        <p:nvSpPr>
          <p:cNvPr id="113" name="Text"/>
          <p:cNvSpPr txBox="1"/>
          <p:nvPr/>
        </p:nvSpPr>
        <p:spPr>
          <a:xfrm>
            <a:off x="73660" y="239395"/>
            <a:ext cx="22987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L=1.00 R=1.00</a:t>
            </a:r>
            <a:endParaRPr lang="zh-TW" sz="3600"/>
          </a:p>
        </p:txBody>
      </p:sp>
      <p:sp>
        <p:nvSpPr>
          <p:cNvPr id="114" name="Text"/>
          <p:cNvSpPr txBox="1"/>
          <p:nvPr/>
        </p:nvSpPr>
        <p:spPr>
          <a:xfrm>
            <a:off x="73660" y="277495"/>
            <a:ext cx="229870" cy="349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roll 接近 0 度，左右聲道正常輸出。</a:t>
            </a:r>
            <a:endParaRPr lang="zh-TW" sz="1700"/>
          </a:p>
        </p:txBody>
      </p:sp>
      <p:sp>
        <p:nvSpPr>
          <p:cNvPr id="115" name="Rectangle"/>
          <p:cNvSpPr/>
          <p:nvPr/>
        </p:nvSpPr>
        <p:spPr>
          <a:xfrm>
            <a:off x="331470" y="180975"/>
            <a:ext cx="260350" cy="1365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16" name="Rectangle"/>
          <p:cNvSpPr/>
          <p:nvPr/>
        </p:nvSpPr>
        <p:spPr>
          <a:xfrm>
            <a:off x="346710" y="196215"/>
            <a:ext cx="31750" cy="5080"/>
          </a:xfrm>
          <a:prstGeom prst="roundRect">
            <a:avLst/>
          </a:prstGeom>
          <a:solidFill>
            <a:srgbClr val="2F6FBB"/>
          </a:solidFill>
          <a:ln>
            <a:noFill/>
          </a:ln>
        </p:spPr>
      </p:sp>
      <p:sp>
        <p:nvSpPr>
          <p:cNvPr id="117" name="Text"/>
          <p:cNvSpPr txBox="1"/>
          <p:nvPr/>
        </p:nvSpPr>
        <p:spPr>
          <a:xfrm>
            <a:off x="346710" y="216535"/>
            <a:ext cx="22987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LEFT</a:t>
            </a:r>
            <a:endParaRPr lang="zh-TW" sz="1800"/>
          </a:p>
        </p:txBody>
      </p:sp>
      <p:sp>
        <p:nvSpPr>
          <p:cNvPr id="118" name="Text"/>
          <p:cNvSpPr txBox="1"/>
          <p:nvPr/>
        </p:nvSpPr>
        <p:spPr>
          <a:xfrm>
            <a:off x="346710" y="239395"/>
            <a:ext cx="22987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R 降低</a:t>
            </a:r>
            <a:endParaRPr lang="zh-TW" sz="3600"/>
          </a:p>
        </p:txBody>
      </p:sp>
      <p:sp>
        <p:nvSpPr>
          <p:cNvPr id="119" name="Text"/>
          <p:cNvSpPr txBox="1"/>
          <p:nvPr/>
        </p:nvSpPr>
        <p:spPr>
          <a:xfrm>
            <a:off x="346710" y="277495"/>
            <a:ext cx="229870" cy="349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roll &lt; -25 度，右聲道降到約 30%。</a:t>
            </a:r>
            <a:endParaRPr lang="zh-TW" sz="1700"/>
          </a:p>
        </p:txBody>
      </p:sp>
      <p:sp>
        <p:nvSpPr>
          <p:cNvPr id="120" name="Rectangle"/>
          <p:cNvSpPr/>
          <p:nvPr/>
        </p:nvSpPr>
        <p:spPr>
          <a:xfrm>
            <a:off x="604520" y="180975"/>
            <a:ext cx="260350" cy="1365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21" name="Rectangle"/>
          <p:cNvSpPr/>
          <p:nvPr/>
        </p:nvSpPr>
        <p:spPr>
          <a:xfrm>
            <a:off x="619760" y="196215"/>
            <a:ext cx="31750" cy="5080"/>
          </a:xfrm>
          <a:prstGeom prst="roundRect">
            <a:avLst/>
          </a:prstGeom>
          <a:solidFill>
            <a:srgbClr val="C8891A"/>
          </a:solidFill>
          <a:ln>
            <a:noFill/>
          </a:ln>
        </p:spPr>
      </p:sp>
      <p:sp>
        <p:nvSpPr>
          <p:cNvPr id="122" name="Text"/>
          <p:cNvSpPr txBox="1"/>
          <p:nvPr/>
        </p:nvSpPr>
        <p:spPr>
          <a:xfrm>
            <a:off x="619760" y="216535"/>
            <a:ext cx="22987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RIGHT</a:t>
            </a:r>
            <a:endParaRPr lang="zh-TW" sz="1800"/>
          </a:p>
        </p:txBody>
      </p:sp>
      <p:sp>
        <p:nvSpPr>
          <p:cNvPr id="123" name="Text"/>
          <p:cNvSpPr txBox="1"/>
          <p:nvPr/>
        </p:nvSpPr>
        <p:spPr>
          <a:xfrm>
            <a:off x="619760" y="239395"/>
            <a:ext cx="22987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L 降低</a:t>
            </a:r>
            <a:endParaRPr lang="zh-TW" sz="3600"/>
          </a:p>
        </p:txBody>
      </p:sp>
      <p:sp>
        <p:nvSpPr>
          <p:cNvPr id="124" name="Text"/>
          <p:cNvSpPr txBox="1"/>
          <p:nvPr/>
        </p:nvSpPr>
        <p:spPr>
          <a:xfrm>
            <a:off x="619760" y="277495"/>
            <a:ext cx="229870" cy="349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roll &gt; 25 度，左聲道降到約 30%。</a:t>
            </a:r>
            <a:endParaRPr lang="zh-TW" sz="1700"/>
          </a:p>
        </p:txBody>
      </p:sp>
      <p:sp>
        <p:nvSpPr>
          <p:cNvPr id="125" name="Rectangle"/>
          <p:cNvSpPr/>
          <p:nvPr/>
        </p:nvSpPr>
        <p:spPr>
          <a:xfrm>
            <a:off x="877570" y="180975"/>
            <a:ext cx="260350" cy="1365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26" name="Rectangle"/>
          <p:cNvSpPr/>
          <p:nvPr/>
        </p:nvSpPr>
        <p:spPr>
          <a:xfrm>
            <a:off x="892810" y="196215"/>
            <a:ext cx="31750" cy="5080"/>
          </a:xfrm>
          <a:prstGeom prst="roundRect">
            <a:avLst/>
          </a:prstGeom>
          <a:solidFill>
            <a:srgbClr val="D3543F"/>
          </a:solidFill>
          <a:ln>
            <a:noFill/>
          </a:ln>
        </p:spPr>
      </p:sp>
      <p:sp>
        <p:nvSpPr>
          <p:cNvPr id="127" name="Text"/>
          <p:cNvSpPr txBox="1"/>
          <p:nvPr/>
        </p:nvSpPr>
        <p:spPr>
          <a:xfrm>
            <a:off x="892810" y="216535"/>
            <a:ext cx="22987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DOWN</a:t>
            </a:r>
            <a:endParaRPr lang="zh-TW" sz="1800"/>
          </a:p>
        </p:txBody>
      </p:sp>
      <p:sp>
        <p:nvSpPr>
          <p:cNvPr id="128" name="Text"/>
          <p:cNvSpPr txBox="1"/>
          <p:nvPr/>
        </p:nvSpPr>
        <p:spPr>
          <a:xfrm>
            <a:off x="892810" y="239395"/>
            <a:ext cx="22987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Mute</a:t>
            </a:r>
            <a:endParaRPr lang="zh-TW" sz="3600"/>
          </a:p>
        </p:txBody>
      </p:sp>
      <p:sp>
        <p:nvSpPr>
          <p:cNvPr id="129" name="Text"/>
          <p:cNvSpPr txBox="1"/>
          <p:nvPr/>
        </p:nvSpPr>
        <p:spPr>
          <a:xfrm>
            <a:off x="892810" y="277495"/>
            <a:ext cx="229870" cy="349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pitch &lt; -35 度，左右目標音量歸零。</a:t>
            </a:r>
            <a:endParaRPr lang="zh-TW" sz="1700"/>
          </a:p>
        </p:txBody>
      </p:sp>
      <p:sp>
        <p:nvSpPr>
          <p:cNvPr id="130" name="Rectangle"/>
          <p:cNvSpPr/>
          <p:nvPr/>
        </p:nvSpPr>
        <p:spPr>
          <a:xfrm>
            <a:off x="58420" y="368300"/>
            <a:ext cx="1079500" cy="133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31" name="Text"/>
          <p:cNvSpPr txBox="1"/>
          <p:nvPr/>
        </p:nvSpPr>
        <p:spPr>
          <a:xfrm>
            <a:off x="85725" y="396875"/>
            <a:ext cx="158750" cy="285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7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防抖設計</a:t>
            </a:r>
            <a:endParaRPr lang="zh-TW" sz="2700"/>
          </a:p>
        </p:txBody>
      </p:sp>
      <p:sp>
        <p:nvSpPr>
          <p:cNvPr id="132" name="Text"/>
          <p:cNvSpPr txBox="1"/>
          <p:nvPr/>
        </p:nvSpPr>
        <p:spPr>
          <a:xfrm>
            <a:off x="241300" y="396875"/>
            <a:ext cx="838200" cy="285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500" dirty="0">
                <a:solidFill>
                  <a:srgbClr val="5B6773"/>
                </a:solidFill>
                <a:latin typeface="Aptos"/>
                <a:ea typeface="Microsoft JhengHei"/>
              </a:rPr>
              <a:t>使用 enter / exit 門檻 hysteresis，避免頭部角度在邊界附近來回切換。</a:t>
            </a:r>
            <a:endParaRPr lang="zh-TW" sz="2500"/>
          </a:p>
        </p:txBody>
      </p:sp>
      <p:sp>
        <p:nvSpPr>
          <p:cNvPr id="133" name="Text"/>
          <p:cNvSpPr txBox="1"/>
          <p:nvPr/>
        </p:nvSpPr>
        <p:spPr>
          <a:xfrm>
            <a:off x="85725" y="444500"/>
            <a:ext cx="158750" cy="285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7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音量保護</a:t>
            </a:r>
            <a:endParaRPr lang="zh-TW" sz="2700"/>
          </a:p>
        </p:txBody>
      </p:sp>
      <p:sp>
        <p:nvSpPr>
          <p:cNvPr id="134" name="Text"/>
          <p:cNvSpPr txBox="1"/>
          <p:nvPr/>
        </p:nvSpPr>
        <p:spPr>
          <a:xfrm>
            <a:off x="241300" y="444500"/>
            <a:ext cx="838200" cy="285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500" dirty="0">
                <a:solidFill>
                  <a:srgbClr val="5B6773"/>
                </a:solidFill>
                <a:latin typeface="Aptos"/>
                <a:ea typeface="Microsoft JhengHei"/>
              </a:rPr>
              <a:t>使用 volume smoother 降低音量變化造成的 click / pop。</a:t>
            </a:r>
            <a:endParaRPr lang="zh-TW" sz="2500"/>
          </a:p>
        </p:txBody>
      </p:sp>
      <p:sp>
        <p:nvSpPr>
          <p:cNvPr id="3" name="Text"/>
          <p:cNvSpPr txBox="1"/>
          <p:nvPr/>
        </p:nvSpPr>
        <p:spPr>
          <a:xfrm>
            <a:off x="58420" y="633730"/>
            <a:ext cx="39370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STM32F411 Head-Tracking Audio</a:t>
            </a:r>
            <a:endParaRPr lang="zh-TW" sz="1600"/>
          </a:p>
        </p:txBody>
      </p:sp>
      <p:sp>
        <p:nvSpPr>
          <p:cNvPr id="4" name="Text"/>
          <p:cNvSpPr txBox="1"/>
          <p:nvPr/>
        </p:nvSpPr>
        <p:spPr>
          <a:xfrm>
            <a:off x="1041400" y="633730"/>
            <a:ext cx="12065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06 / 11</a:t>
            </a:r>
            <a:endParaRPr lang="zh-TW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135" name="Text"/>
          <p:cNvSpPr txBox="1"/>
          <p:nvPr/>
        </p:nvSpPr>
        <p:spPr>
          <a:xfrm>
            <a:off x="58420" y="49530"/>
            <a:ext cx="3937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b/>
                <a:solidFill>
                  <a:srgbClr val="00857A"/>
                </a:solidFill>
                <a:latin typeface="Aptos"/>
                <a:ea typeface="Microsoft JhengHei"/>
              </a:rPr>
              <a:t>電源監測與低功耗</a:t>
            </a:r>
            <a:endParaRPr lang="zh-TW" sz="1800"/>
          </a:p>
        </p:txBody>
      </p:sp>
      <p:sp>
        <p:nvSpPr>
          <p:cNvPr id="136" name="Text"/>
          <p:cNvSpPr txBox="1"/>
          <p:nvPr/>
        </p:nvSpPr>
        <p:spPr>
          <a:xfrm>
            <a:off x="58420" y="76200"/>
            <a:ext cx="762000" cy="57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47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AO3401 讓 LOW_POWER 真的切斷音訊電源</a:t>
            </a:r>
            <a:endParaRPr lang="zh-TW" sz="4700"/>
          </a:p>
        </p:txBody>
      </p:sp>
      <p:sp>
        <p:nvSpPr>
          <p:cNvPr id="137" name="Rectangle"/>
          <p:cNvSpPr/>
          <p:nvPr/>
        </p:nvSpPr>
        <p:spPr>
          <a:xfrm>
            <a:off x="58420" y="165100"/>
            <a:ext cx="5080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38" name="Text"/>
          <p:cNvSpPr txBox="1"/>
          <p:nvPr/>
        </p:nvSpPr>
        <p:spPr>
          <a:xfrm>
            <a:off x="88900" y="200025"/>
            <a:ext cx="447675" cy="273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500" dirty="0">
                <a:solidFill>
                  <a:srgbClr val="17202A"/>
                </a:solidFill>
                <a:latin typeface="Aptos"/>
                <a:ea typeface="Microsoft JhengHei"/>
              </a:rPr>
              <a:t>5V_AUDIO_IN</a:t>
            </a:r>
            <a:endParaRPr lang="zh-TW" sz="2500"/>
          </a:p>
          <a:p>
            <a:r>
              <a:rPr lang="zh-TW" sz="2500" dirty="0">
                <a:solidFill>
                  <a:srgbClr val="17202A"/>
                </a:solidFill>
                <a:latin typeface="Aptos"/>
                <a:ea typeface="Microsoft JhengHei"/>
              </a:rPr>
              <a:t>  -&gt; INA219 VIN+</a:t>
            </a:r>
            <a:endParaRPr lang="zh-TW" sz="2500"/>
          </a:p>
          <a:p>
            <a:r>
              <a:rPr lang="zh-TW" sz="2500" dirty="0">
                <a:solidFill>
                  <a:srgbClr val="17202A"/>
                </a:solidFill>
                <a:latin typeface="Aptos"/>
                <a:ea typeface="Microsoft JhengHei"/>
              </a:rPr>
              <a:t>  -&gt; INA219 VIN-</a:t>
            </a:r>
            <a:endParaRPr lang="zh-TW" sz="2500"/>
          </a:p>
          <a:p>
            <a:r>
              <a:rPr lang="zh-TW" sz="2500" dirty="0">
                <a:solidFill>
                  <a:srgbClr val="17202A"/>
                </a:solidFill>
                <a:latin typeface="Aptos"/>
                <a:ea typeface="Microsoft JhengHei"/>
              </a:rPr>
              <a:t>  -&gt; AO3401 Source</a:t>
            </a:r>
            <a:endParaRPr lang="zh-TW" sz="2500"/>
          </a:p>
          <a:p>
            <a:r>
              <a:rPr lang="zh-TW" sz="2500" dirty="0">
                <a:solidFill>
                  <a:srgbClr val="17202A"/>
                </a:solidFill>
                <a:latin typeface="Aptos"/>
                <a:ea typeface="Microsoft JhengHei"/>
              </a:rPr>
              <a:t>  -&gt; AO3401 Drain</a:t>
            </a:r>
            <a:endParaRPr lang="zh-TW" sz="2500"/>
          </a:p>
          <a:p>
            <a:r>
              <a:rPr lang="zh-TW" sz="2500" dirty="0">
                <a:solidFill>
                  <a:srgbClr val="17202A"/>
                </a:solidFill>
                <a:latin typeface="Aptos"/>
                <a:ea typeface="Microsoft JhengHei"/>
              </a:rPr>
              <a:t>  -&gt; 5V_AUDIO_SW</a:t>
            </a:r>
            <a:endParaRPr lang="zh-TW" sz="2500"/>
          </a:p>
          <a:p>
            <a:r>
              <a:rPr lang="zh-TW" sz="2500" dirty="0">
                <a:solidFill>
                  <a:srgbClr val="17202A"/>
                </a:solidFill>
                <a:latin typeface="Aptos"/>
                <a:ea typeface="Microsoft JhengHei"/>
              </a:rPr>
              <a:t>  -&gt; MAX98357A VIN</a:t>
            </a:r>
            <a:endParaRPr lang="zh-TW" sz="2500"/>
          </a:p>
          <a:p>
            <a:r>
              <a:rPr lang="zh-TW" sz="2500" dirty="0">
                <a:solidFill>
                  <a:srgbClr val="17202A"/>
                </a:solidFill>
                <a:latin typeface="Aptos"/>
                <a:ea typeface="Microsoft JhengHei"/>
              </a:rPr>
              <a:t/>
            </a:r>
            <a:endParaRPr lang="zh-TW" sz="2500"/>
          </a:p>
          <a:p>
            <a:r>
              <a:rPr lang="zh-TW" sz="2500" dirty="0">
                <a:solidFill>
                  <a:srgbClr val="17202A"/>
                </a:solidFill>
                <a:latin typeface="Aptos"/>
                <a:ea typeface="Microsoft JhengHei"/>
              </a:rPr>
              <a:t>PB8 -&gt; level shifter -&gt; Gate</a:t>
            </a:r>
            <a:endParaRPr lang="zh-TW" sz="2500"/>
          </a:p>
        </p:txBody>
      </p:sp>
      <p:sp>
        <p:nvSpPr>
          <p:cNvPr id="139" name="Rectangle"/>
          <p:cNvSpPr/>
          <p:nvPr/>
        </p:nvSpPr>
        <p:spPr>
          <a:xfrm>
            <a:off x="606425" y="165100"/>
            <a:ext cx="520700" cy="10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40" name="Rectangle"/>
          <p:cNvSpPr/>
          <p:nvPr/>
        </p:nvSpPr>
        <p:spPr>
          <a:xfrm>
            <a:off x="621665" y="180340"/>
            <a:ext cx="31750" cy="5080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141" name="Text"/>
          <p:cNvSpPr txBox="1"/>
          <p:nvPr/>
        </p:nvSpPr>
        <p:spPr>
          <a:xfrm>
            <a:off x="621665" y="200660"/>
            <a:ext cx="49022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ACTIVE 20%</a:t>
            </a:r>
            <a:endParaRPr lang="zh-TW" sz="1800"/>
          </a:p>
        </p:txBody>
      </p:sp>
      <p:sp>
        <p:nvSpPr>
          <p:cNvPr id="142" name="Text"/>
          <p:cNvSpPr txBox="1"/>
          <p:nvPr/>
        </p:nvSpPr>
        <p:spPr>
          <a:xfrm>
            <a:off x="621665" y="223520"/>
            <a:ext cx="49022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18.0 mA</a:t>
            </a:r>
            <a:endParaRPr lang="zh-TW" sz="3600"/>
          </a:p>
        </p:txBody>
      </p:sp>
      <p:sp>
        <p:nvSpPr>
          <p:cNvPr id="143" name="Text"/>
          <p:cNvSpPr txBox="1"/>
          <p:nvPr/>
        </p:nvSpPr>
        <p:spPr>
          <a:xfrm>
            <a:off x="621665" y="261620"/>
            <a:ext cx="490220" cy="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音訊輸出時的音訊電源軌電流。</a:t>
            </a:r>
            <a:endParaRPr lang="zh-TW" sz="1700"/>
          </a:p>
        </p:txBody>
      </p:sp>
      <p:sp>
        <p:nvSpPr>
          <p:cNvPr id="144" name="Rectangle"/>
          <p:cNvSpPr/>
          <p:nvPr/>
        </p:nvSpPr>
        <p:spPr>
          <a:xfrm>
            <a:off x="606425" y="292100"/>
            <a:ext cx="520700" cy="10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45" name="Rectangle"/>
          <p:cNvSpPr/>
          <p:nvPr/>
        </p:nvSpPr>
        <p:spPr>
          <a:xfrm>
            <a:off x="621665" y="307340"/>
            <a:ext cx="31750" cy="5080"/>
          </a:xfrm>
          <a:prstGeom prst="roundRect">
            <a:avLst/>
          </a:prstGeom>
          <a:solidFill>
            <a:srgbClr val="C8891A"/>
          </a:solidFill>
          <a:ln>
            <a:noFill/>
          </a:ln>
        </p:spPr>
      </p:sp>
      <p:sp>
        <p:nvSpPr>
          <p:cNvPr id="146" name="Text"/>
          <p:cNvSpPr txBox="1"/>
          <p:nvPr/>
        </p:nvSpPr>
        <p:spPr>
          <a:xfrm>
            <a:off x="621665" y="327660"/>
            <a:ext cx="49022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HEAD_DOWN</a:t>
            </a:r>
            <a:endParaRPr lang="zh-TW" sz="1800"/>
          </a:p>
        </p:txBody>
      </p:sp>
      <p:sp>
        <p:nvSpPr>
          <p:cNvPr id="147" name="Text"/>
          <p:cNvSpPr txBox="1"/>
          <p:nvPr/>
        </p:nvSpPr>
        <p:spPr>
          <a:xfrm>
            <a:off x="621665" y="350520"/>
            <a:ext cx="49022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5.6 mA</a:t>
            </a:r>
            <a:endParaRPr lang="zh-TW" sz="3600"/>
          </a:p>
        </p:txBody>
      </p:sp>
      <p:sp>
        <p:nvSpPr>
          <p:cNvPr id="148" name="Text"/>
          <p:cNvSpPr txBox="1"/>
          <p:nvPr/>
        </p:nvSpPr>
        <p:spPr>
          <a:xfrm>
            <a:off x="621665" y="388620"/>
            <a:ext cx="490220" cy="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軟體靜音仍有模組待機消耗。</a:t>
            </a:r>
            <a:endParaRPr lang="zh-TW" sz="1700"/>
          </a:p>
        </p:txBody>
      </p:sp>
      <p:sp>
        <p:nvSpPr>
          <p:cNvPr id="149" name="Rectangle"/>
          <p:cNvSpPr/>
          <p:nvPr/>
        </p:nvSpPr>
        <p:spPr>
          <a:xfrm>
            <a:off x="606425" y="419100"/>
            <a:ext cx="520700" cy="10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50" name="Rectangle"/>
          <p:cNvSpPr/>
          <p:nvPr/>
        </p:nvSpPr>
        <p:spPr>
          <a:xfrm>
            <a:off x="621665" y="434340"/>
            <a:ext cx="31750" cy="5080"/>
          </a:xfrm>
          <a:prstGeom prst="roundRect">
            <a:avLst/>
          </a:prstGeom>
          <a:solidFill>
            <a:srgbClr val="2D7A46"/>
          </a:solidFill>
          <a:ln>
            <a:noFill/>
          </a:ln>
        </p:spPr>
      </p:sp>
      <p:sp>
        <p:nvSpPr>
          <p:cNvPr id="151" name="Text"/>
          <p:cNvSpPr txBox="1"/>
          <p:nvPr/>
        </p:nvSpPr>
        <p:spPr>
          <a:xfrm>
            <a:off x="621665" y="454660"/>
            <a:ext cx="49022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LOW_POWER</a:t>
            </a:r>
            <a:endParaRPr lang="zh-TW" sz="1800"/>
          </a:p>
        </p:txBody>
      </p:sp>
      <p:sp>
        <p:nvSpPr>
          <p:cNvPr id="152" name="Text"/>
          <p:cNvSpPr txBox="1"/>
          <p:nvPr/>
        </p:nvSpPr>
        <p:spPr>
          <a:xfrm>
            <a:off x="621665" y="477520"/>
            <a:ext cx="49022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~0 mA</a:t>
            </a:r>
            <a:endParaRPr lang="zh-TW" sz="3600"/>
          </a:p>
        </p:txBody>
      </p:sp>
      <p:sp>
        <p:nvSpPr>
          <p:cNvPr id="153" name="Text"/>
          <p:cNvSpPr txBox="1"/>
          <p:nvPr/>
        </p:nvSpPr>
        <p:spPr>
          <a:xfrm>
            <a:off x="621665" y="515620"/>
            <a:ext cx="490220" cy="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AO3401 關閉後接近 0 mA，AUDIO_RAIL_CUTOFF=PASS。</a:t>
            </a:r>
            <a:endParaRPr lang="zh-TW" sz="1700"/>
          </a:p>
        </p:txBody>
      </p:sp>
      <p:sp>
        <p:nvSpPr>
          <p:cNvPr id="3" name="Text"/>
          <p:cNvSpPr txBox="1"/>
          <p:nvPr/>
        </p:nvSpPr>
        <p:spPr>
          <a:xfrm>
            <a:off x="58420" y="633730"/>
            <a:ext cx="39370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STM32F411 Head-Tracking Audio</a:t>
            </a:r>
            <a:endParaRPr lang="zh-TW" sz="1600"/>
          </a:p>
        </p:txBody>
      </p:sp>
      <p:sp>
        <p:nvSpPr>
          <p:cNvPr id="4" name="Text"/>
          <p:cNvSpPr txBox="1"/>
          <p:nvPr/>
        </p:nvSpPr>
        <p:spPr>
          <a:xfrm>
            <a:off x="1041400" y="633730"/>
            <a:ext cx="12065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07 / 11</a:t>
            </a:r>
            <a:endParaRPr lang="zh-TW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154" name="Text"/>
          <p:cNvSpPr txBox="1"/>
          <p:nvPr/>
        </p:nvSpPr>
        <p:spPr>
          <a:xfrm>
            <a:off x="58420" y="49530"/>
            <a:ext cx="3937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b/>
                <a:solidFill>
                  <a:srgbClr val="00857A"/>
                </a:solidFill>
                <a:latin typeface="Aptos"/>
                <a:ea typeface="Microsoft JhengHei"/>
              </a:rPr>
              <a:t>桌面 HTML Page</a:t>
            </a:r>
            <a:endParaRPr lang="zh-TW" sz="1800"/>
          </a:p>
        </p:txBody>
      </p:sp>
      <p:sp>
        <p:nvSpPr>
          <p:cNvPr id="155" name="Text"/>
          <p:cNvSpPr txBox="1"/>
          <p:nvPr/>
        </p:nvSpPr>
        <p:spPr>
          <a:xfrm>
            <a:off x="58420" y="76200"/>
            <a:ext cx="762000" cy="57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50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與硬體連線成功並測試功能正常</a:t>
            </a:r>
            <a:endParaRPr lang="zh-TW" sz="5000"/>
          </a:p>
        </p:txBody>
      </p:sp>
      <p:sp>
        <p:nvSpPr>
          <p:cNvPr id="156" name="Rectangle"/>
          <p:cNvSpPr/>
          <p:nvPr/>
        </p:nvSpPr>
        <p:spPr>
          <a:xfrm>
            <a:off x="58420" y="155575"/>
            <a:ext cx="530225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pic>
        <p:nvPicPr>
          <p:cNvPr id="157" name="Main dashboard"/>
          <p:cNvPicPr/>
          <p:nvPr/>
        </p:nvPicPr>
        <p:blipFill>
          <a:blip r:embed="rId2"/>
          <a:stretch>
            <a:fillRect/>
          </a:stretch>
        </p:blipFill>
        <p:spPr>
          <a:xfrm>
            <a:off x="63500" y="160655"/>
            <a:ext cx="520065" cy="345440"/>
          </a:xfrm>
          <a:prstGeom prst="rect">
            <a:avLst/>
          </a:prstGeom>
        </p:spPr>
      </p:pic>
      <p:sp>
        <p:nvSpPr>
          <p:cNvPr id="158" name="Rectangle"/>
          <p:cNvSpPr/>
          <p:nvPr/>
        </p:nvSpPr>
        <p:spPr>
          <a:xfrm>
            <a:off x="71120" y="476885"/>
            <a:ext cx="158750" cy="22860"/>
          </a:xfrm>
          <a:prstGeom prst="roundRect">
            <a:avLst/>
          </a:prstGeom>
          <a:solidFill>
            <a:srgbClr val="1F2B37"/>
          </a:solidFill>
          <a:ln>
            <a:noFill/>
          </a:ln>
        </p:spPr>
      </p:sp>
      <p:sp>
        <p:nvSpPr>
          <p:cNvPr id="159" name="Text"/>
          <p:cNvSpPr txBox="1"/>
          <p:nvPr/>
        </p:nvSpPr>
        <p:spPr>
          <a:xfrm>
            <a:off x="78740" y="480695"/>
            <a:ext cx="142875" cy="15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Main dashboard</a:t>
            </a:r>
            <a:endParaRPr lang="zh-TW" sz="1500"/>
          </a:p>
        </p:txBody>
      </p:sp>
      <p:sp>
        <p:nvSpPr>
          <p:cNvPr id="160" name="Rectangle"/>
          <p:cNvSpPr/>
          <p:nvPr/>
        </p:nvSpPr>
        <p:spPr>
          <a:xfrm>
            <a:off x="609600" y="155575"/>
            <a:ext cx="530225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pic>
        <p:nvPicPr>
          <p:cNvPr id="161" name="Power monitor"/>
          <p:cNvPicPr/>
          <p:nvPr/>
        </p:nvPicPr>
        <p:blipFill>
          <a:blip r:embed="rId3"/>
          <a:stretch>
            <a:fillRect/>
          </a:stretch>
        </p:blipFill>
        <p:spPr>
          <a:xfrm>
            <a:off x="614680" y="160655"/>
            <a:ext cx="520065" cy="345440"/>
          </a:xfrm>
          <a:prstGeom prst="rect">
            <a:avLst/>
          </a:prstGeom>
        </p:spPr>
      </p:pic>
      <p:sp>
        <p:nvSpPr>
          <p:cNvPr id="162" name="Rectangle"/>
          <p:cNvSpPr/>
          <p:nvPr/>
        </p:nvSpPr>
        <p:spPr>
          <a:xfrm>
            <a:off x="622300" y="476885"/>
            <a:ext cx="158750" cy="22860"/>
          </a:xfrm>
          <a:prstGeom prst="roundRect">
            <a:avLst/>
          </a:prstGeom>
          <a:solidFill>
            <a:srgbClr val="1F2B37"/>
          </a:solidFill>
          <a:ln>
            <a:noFill/>
          </a:ln>
        </p:spPr>
      </p:sp>
      <p:sp>
        <p:nvSpPr>
          <p:cNvPr id="163" name="Text"/>
          <p:cNvSpPr txBox="1"/>
          <p:nvPr/>
        </p:nvSpPr>
        <p:spPr>
          <a:xfrm>
            <a:off x="629920" y="480695"/>
            <a:ext cx="142875" cy="15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Power monitor</a:t>
            </a:r>
            <a:endParaRPr lang="zh-TW" sz="1500"/>
          </a:p>
        </p:txBody>
      </p:sp>
      <p:sp>
        <p:nvSpPr>
          <p:cNvPr id="164" name="Text"/>
          <p:cNvSpPr txBox="1"/>
          <p:nvPr/>
        </p:nvSpPr>
        <p:spPr>
          <a:xfrm>
            <a:off x="58420" y="536575"/>
            <a:ext cx="952500" cy="2667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200" dirty="0">
                <a:solidFill>
                  <a:srgbClr val="5B6773"/>
                </a:solidFill>
                <a:latin typeface="Aptos"/>
                <a:ea typeface="Microsoft JhengHei"/>
              </a:rPr>
              <a:t>頁面可讀取 telemetry，顯示 IMU 姿態、頭部方向、音訊狀態與 INA219 power 監測結果。</a:t>
            </a:r>
            <a:endParaRPr lang="zh-TW" sz="2200"/>
          </a:p>
        </p:txBody>
      </p:sp>
      <p:sp>
        <p:nvSpPr>
          <p:cNvPr id="3" name="Text"/>
          <p:cNvSpPr txBox="1"/>
          <p:nvPr/>
        </p:nvSpPr>
        <p:spPr>
          <a:xfrm>
            <a:off x="58420" y="633730"/>
            <a:ext cx="39370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STM32F411 Head-Tracking Audio</a:t>
            </a:r>
            <a:endParaRPr lang="zh-TW" sz="1600"/>
          </a:p>
        </p:txBody>
      </p:sp>
      <p:sp>
        <p:nvSpPr>
          <p:cNvPr id="4" name="Text"/>
          <p:cNvSpPr txBox="1"/>
          <p:nvPr/>
        </p:nvSpPr>
        <p:spPr>
          <a:xfrm>
            <a:off x="1041400" y="633730"/>
            <a:ext cx="12065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08 / 11</a:t>
            </a:r>
            <a:endParaRPr lang="zh-TW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165" name="Text"/>
          <p:cNvSpPr txBox="1"/>
          <p:nvPr/>
        </p:nvSpPr>
        <p:spPr>
          <a:xfrm>
            <a:off x="58420" y="49530"/>
            <a:ext cx="3937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b/>
                <a:solidFill>
                  <a:srgbClr val="00857A"/>
                </a:solidFill>
                <a:latin typeface="Aptos"/>
                <a:ea typeface="Microsoft JhengHei"/>
              </a:rPr>
              <a:t>電路圖與 PCB Layout</a:t>
            </a:r>
            <a:endParaRPr lang="zh-TW" sz="1800"/>
          </a:p>
        </p:txBody>
      </p:sp>
      <p:sp>
        <p:nvSpPr>
          <p:cNvPr id="166" name="Text"/>
          <p:cNvSpPr txBox="1"/>
          <p:nvPr/>
        </p:nvSpPr>
        <p:spPr>
          <a:xfrm>
            <a:off x="58420" y="76200"/>
            <a:ext cx="762000" cy="57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49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把麵包板模組轉成直接 IC 連接</a:t>
            </a:r>
            <a:endParaRPr lang="zh-TW" sz="4900"/>
          </a:p>
        </p:txBody>
      </p:sp>
      <p:sp>
        <p:nvSpPr>
          <p:cNvPr id="167" name="Rectangle"/>
          <p:cNvSpPr/>
          <p:nvPr/>
        </p:nvSpPr>
        <p:spPr>
          <a:xfrm>
            <a:off x="58420" y="158750"/>
            <a:ext cx="349250" cy="1809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pic>
        <p:nvPicPr>
          <p:cNvPr id="168" name="Schematic 1"/>
          <p:cNvPicPr/>
          <p:nvPr/>
        </p:nvPicPr>
        <p:blipFill>
          <a:blip r:embed="rId2"/>
          <a:stretch>
            <a:fillRect/>
          </a:stretch>
        </p:blipFill>
        <p:spPr>
          <a:xfrm>
            <a:off x="63500" y="163830"/>
            <a:ext cx="339090" cy="170815"/>
          </a:xfrm>
          <a:prstGeom prst="rect">
            <a:avLst/>
          </a:prstGeom>
        </p:spPr>
      </p:pic>
      <p:sp>
        <p:nvSpPr>
          <p:cNvPr id="169" name="Rectangle"/>
          <p:cNvSpPr/>
          <p:nvPr/>
        </p:nvSpPr>
        <p:spPr>
          <a:xfrm>
            <a:off x="71120" y="305435"/>
            <a:ext cx="158750" cy="22860"/>
          </a:xfrm>
          <a:prstGeom prst="roundRect">
            <a:avLst/>
          </a:prstGeom>
          <a:solidFill>
            <a:srgbClr val="1F2B37"/>
          </a:solidFill>
          <a:ln>
            <a:noFill/>
          </a:ln>
        </p:spPr>
      </p:sp>
      <p:sp>
        <p:nvSpPr>
          <p:cNvPr id="170" name="Text"/>
          <p:cNvSpPr txBox="1"/>
          <p:nvPr/>
        </p:nvSpPr>
        <p:spPr>
          <a:xfrm>
            <a:off x="78740" y="309245"/>
            <a:ext cx="142875" cy="15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Schematic 1</a:t>
            </a:r>
            <a:endParaRPr lang="zh-TW" sz="1500"/>
          </a:p>
        </p:txBody>
      </p:sp>
      <p:sp>
        <p:nvSpPr>
          <p:cNvPr id="171" name="Rectangle"/>
          <p:cNvSpPr/>
          <p:nvPr/>
        </p:nvSpPr>
        <p:spPr>
          <a:xfrm>
            <a:off x="433070" y="158750"/>
            <a:ext cx="349250" cy="1809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pic>
        <p:nvPicPr>
          <p:cNvPr id="172" name="Schematic 2"/>
          <p:cNvPicPr/>
          <p:nvPr/>
        </p:nvPicPr>
        <p:blipFill>
          <a:blip r:embed="rId3"/>
          <a:stretch>
            <a:fillRect/>
          </a:stretch>
        </p:blipFill>
        <p:spPr>
          <a:xfrm>
            <a:off x="438150" y="163830"/>
            <a:ext cx="339090" cy="170815"/>
          </a:xfrm>
          <a:prstGeom prst="rect">
            <a:avLst/>
          </a:prstGeom>
        </p:spPr>
      </p:pic>
      <p:sp>
        <p:nvSpPr>
          <p:cNvPr id="173" name="Rectangle"/>
          <p:cNvSpPr/>
          <p:nvPr/>
        </p:nvSpPr>
        <p:spPr>
          <a:xfrm>
            <a:off x="445770" y="305435"/>
            <a:ext cx="158750" cy="22860"/>
          </a:xfrm>
          <a:prstGeom prst="roundRect">
            <a:avLst/>
          </a:prstGeom>
          <a:solidFill>
            <a:srgbClr val="1F2B37"/>
          </a:solidFill>
          <a:ln>
            <a:noFill/>
          </a:ln>
        </p:spPr>
      </p:sp>
      <p:sp>
        <p:nvSpPr>
          <p:cNvPr id="174" name="Text"/>
          <p:cNvSpPr txBox="1"/>
          <p:nvPr/>
        </p:nvSpPr>
        <p:spPr>
          <a:xfrm>
            <a:off x="453390" y="309245"/>
            <a:ext cx="142875" cy="15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Schematic 2</a:t>
            </a:r>
            <a:endParaRPr lang="zh-TW" sz="1500"/>
          </a:p>
        </p:txBody>
      </p:sp>
      <p:sp>
        <p:nvSpPr>
          <p:cNvPr id="175" name="Rectangle"/>
          <p:cNvSpPr/>
          <p:nvPr/>
        </p:nvSpPr>
        <p:spPr>
          <a:xfrm>
            <a:off x="807720" y="158750"/>
            <a:ext cx="330200" cy="1809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pic>
        <p:nvPicPr>
          <p:cNvPr id="176" name="3D PCB"/>
          <p:cNvPicPr/>
          <p:nvPr/>
        </p:nvPicPr>
        <p:blipFill>
          <a:blip r:embed="rId4"/>
          <a:stretch>
            <a:fillRect/>
          </a:stretch>
        </p:blipFill>
        <p:spPr>
          <a:xfrm>
            <a:off x="812800" y="163830"/>
            <a:ext cx="320040" cy="170815"/>
          </a:xfrm>
          <a:prstGeom prst="rect">
            <a:avLst/>
          </a:prstGeom>
        </p:spPr>
      </p:pic>
      <p:sp>
        <p:nvSpPr>
          <p:cNvPr id="177" name="Rectangle"/>
          <p:cNvSpPr/>
          <p:nvPr/>
        </p:nvSpPr>
        <p:spPr>
          <a:xfrm>
            <a:off x="820420" y="305435"/>
            <a:ext cx="158750" cy="22860"/>
          </a:xfrm>
          <a:prstGeom prst="roundRect">
            <a:avLst/>
          </a:prstGeom>
          <a:solidFill>
            <a:srgbClr val="1F2B37"/>
          </a:solidFill>
          <a:ln>
            <a:noFill/>
          </a:ln>
        </p:spPr>
      </p:sp>
      <p:sp>
        <p:nvSpPr>
          <p:cNvPr id="178" name="Text"/>
          <p:cNvSpPr txBox="1"/>
          <p:nvPr/>
        </p:nvSpPr>
        <p:spPr>
          <a:xfrm>
            <a:off x="828040" y="309245"/>
            <a:ext cx="142875" cy="15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3D PCB</a:t>
            </a:r>
            <a:endParaRPr lang="zh-TW" sz="1500"/>
          </a:p>
        </p:txBody>
      </p:sp>
      <p:sp>
        <p:nvSpPr>
          <p:cNvPr id="179" name="Rectangle"/>
          <p:cNvSpPr/>
          <p:nvPr/>
        </p:nvSpPr>
        <p:spPr>
          <a:xfrm>
            <a:off x="58420" y="358775"/>
            <a:ext cx="10795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pic>
        <p:nvPicPr>
          <p:cNvPr id="180" name="PCB layout"/>
          <p:cNvPicPr/>
          <p:nvPr/>
        </p:nvPicPr>
        <p:blipFill>
          <a:blip r:embed="rId5"/>
          <a:stretch>
            <a:fillRect/>
          </a:stretch>
        </p:blipFill>
        <p:spPr>
          <a:xfrm>
            <a:off x="63500" y="363855"/>
            <a:ext cx="1069340" cy="218440"/>
          </a:xfrm>
          <a:prstGeom prst="rect">
            <a:avLst/>
          </a:prstGeom>
        </p:spPr>
      </p:pic>
      <p:sp>
        <p:nvSpPr>
          <p:cNvPr id="181" name="Rectangle"/>
          <p:cNvSpPr/>
          <p:nvPr/>
        </p:nvSpPr>
        <p:spPr>
          <a:xfrm>
            <a:off x="71120" y="553085"/>
            <a:ext cx="158750" cy="22860"/>
          </a:xfrm>
          <a:prstGeom prst="roundRect">
            <a:avLst/>
          </a:prstGeom>
          <a:solidFill>
            <a:srgbClr val="1F2B37"/>
          </a:solidFill>
          <a:ln>
            <a:noFill/>
          </a:ln>
        </p:spPr>
      </p:sp>
      <p:sp>
        <p:nvSpPr>
          <p:cNvPr id="182" name="Text"/>
          <p:cNvSpPr txBox="1"/>
          <p:nvPr/>
        </p:nvSpPr>
        <p:spPr>
          <a:xfrm>
            <a:off x="78740" y="556895"/>
            <a:ext cx="142875" cy="15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500" dirty="0">
                <a:b/>
                <a:solidFill>
                  <a:srgbClr val="FFFFFF"/>
                </a:solidFill>
                <a:latin typeface="Aptos"/>
                <a:ea typeface="Microsoft JhengHei"/>
              </a:rPr>
              <a:t>PCB layout</a:t>
            </a:r>
            <a:endParaRPr lang="zh-TW" sz="1500"/>
          </a:p>
        </p:txBody>
      </p:sp>
      <p:sp>
        <p:nvSpPr>
          <p:cNvPr id="3" name="Text"/>
          <p:cNvSpPr txBox="1"/>
          <p:nvPr/>
        </p:nvSpPr>
        <p:spPr>
          <a:xfrm>
            <a:off x="58420" y="633730"/>
            <a:ext cx="39370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STM32F411 Head-Tracking Audio</a:t>
            </a:r>
            <a:endParaRPr lang="zh-TW" sz="1600"/>
          </a:p>
        </p:txBody>
      </p:sp>
      <p:sp>
        <p:nvSpPr>
          <p:cNvPr id="4" name="Text"/>
          <p:cNvSpPr txBox="1"/>
          <p:nvPr/>
        </p:nvSpPr>
        <p:spPr>
          <a:xfrm>
            <a:off x="1041400" y="633730"/>
            <a:ext cx="12065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09 / 11</a:t>
            </a:r>
            <a:endParaRPr lang="zh-TW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183" name="Text"/>
          <p:cNvSpPr txBox="1"/>
          <p:nvPr/>
        </p:nvSpPr>
        <p:spPr>
          <a:xfrm>
            <a:off x="58420" y="49530"/>
            <a:ext cx="3937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b/>
                <a:solidFill>
                  <a:srgbClr val="00857A"/>
                </a:solidFill>
                <a:latin typeface="Aptos"/>
                <a:ea typeface="Microsoft JhengHei"/>
              </a:rPr>
              <a:t>驗證結果</a:t>
            </a:r>
            <a:endParaRPr lang="zh-TW" sz="1800"/>
          </a:p>
        </p:txBody>
      </p:sp>
      <p:sp>
        <p:nvSpPr>
          <p:cNvPr id="184" name="Text"/>
          <p:cNvSpPr txBox="1"/>
          <p:nvPr/>
        </p:nvSpPr>
        <p:spPr>
          <a:xfrm>
            <a:off x="58420" y="76200"/>
            <a:ext cx="762000" cy="57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52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主要功能皆已完成驗證</a:t>
            </a:r>
            <a:endParaRPr lang="zh-TW" sz="5200"/>
          </a:p>
        </p:txBody>
      </p:sp>
      <p:sp>
        <p:nvSpPr>
          <p:cNvPr id="185" name="Rectangle"/>
          <p:cNvSpPr/>
          <p:nvPr/>
        </p:nvSpPr>
        <p:spPr>
          <a:xfrm>
            <a:off x="58420" y="174625"/>
            <a:ext cx="336550" cy="92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86" name="Rectangle"/>
          <p:cNvSpPr/>
          <p:nvPr/>
        </p:nvSpPr>
        <p:spPr>
          <a:xfrm>
            <a:off x="73660" y="189865"/>
            <a:ext cx="27940" cy="5080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187" name="Text"/>
          <p:cNvSpPr txBox="1"/>
          <p:nvPr/>
        </p:nvSpPr>
        <p:spPr>
          <a:xfrm>
            <a:off x="73660" y="206375"/>
            <a:ext cx="295275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MPU6500 IMU</a:t>
            </a:r>
            <a:endParaRPr lang="zh-TW" sz="2400"/>
          </a:p>
        </p:txBody>
      </p:sp>
      <p:sp>
        <p:nvSpPr>
          <p:cNvPr id="188" name="Text"/>
          <p:cNvSpPr txBox="1"/>
          <p:nvPr/>
        </p:nvSpPr>
        <p:spPr>
          <a:xfrm>
            <a:off x="73660" y="234315"/>
            <a:ext cx="295275" cy="228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WHO_AM_I read</a:t>
            </a:r>
            <a:endParaRPr lang="zh-TW" sz="1800"/>
          </a:p>
        </p:txBody>
      </p:sp>
      <p:sp>
        <p:nvSpPr>
          <p:cNvPr id="189" name="Rectangle"/>
          <p:cNvSpPr/>
          <p:nvPr/>
        </p:nvSpPr>
        <p:spPr>
          <a:xfrm>
            <a:off x="426720" y="174625"/>
            <a:ext cx="336550" cy="92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90" name="Rectangle"/>
          <p:cNvSpPr/>
          <p:nvPr/>
        </p:nvSpPr>
        <p:spPr>
          <a:xfrm>
            <a:off x="441960" y="189865"/>
            <a:ext cx="27940" cy="5080"/>
          </a:xfrm>
          <a:prstGeom prst="roundRect">
            <a:avLst/>
          </a:prstGeom>
          <a:solidFill>
            <a:srgbClr val="2F6FBB"/>
          </a:solidFill>
          <a:ln>
            <a:noFill/>
          </a:ln>
        </p:spPr>
      </p:sp>
      <p:sp>
        <p:nvSpPr>
          <p:cNvPr id="191" name="Text"/>
          <p:cNvSpPr txBox="1"/>
          <p:nvPr/>
        </p:nvSpPr>
        <p:spPr>
          <a:xfrm>
            <a:off x="441960" y="206375"/>
            <a:ext cx="295275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Roll / pitch</a:t>
            </a:r>
            <a:endParaRPr lang="zh-TW" sz="2400"/>
          </a:p>
        </p:txBody>
      </p:sp>
      <p:sp>
        <p:nvSpPr>
          <p:cNvPr id="192" name="Text"/>
          <p:cNvSpPr txBox="1"/>
          <p:nvPr/>
        </p:nvSpPr>
        <p:spPr>
          <a:xfrm>
            <a:off x="441960" y="234315"/>
            <a:ext cx="295275" cy="228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Telemetry and log fields</a:t>
            </a:r>
            <a:endParaRPr lang="zh-TW" sz="1800"/>
          </a:p>
        </p:txBody>
      </p:sp>
      <p:sp>
        <p:nvSpPr>
          <p:cNvPr id="193" name="Rectangle"/>
          <p:cNvSpPr/>
          <p:nvPr/>
        </p:nvSpPr>
        <p:spPr>
          <a:xfrm>
            <a:off x="795020" y="174625"/>
            <a:ext cx="336550" cy="92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94" name="Rectangle"/>
          <p:cNvSpPr/>
          <p:nvPr/>
        </p:nvSpPr>
        <p:spPr>
          <a:xfrm>
            <a:off x="810260" y="189865"/>
            <a:ext cx="27940" cy="5080"/>
          </a:xfrm>
          <a:prstGeom prst="roundRect">
            <a:avLst/>
          </a:prstGeom>
          <a:solidFill>
            <a:srgbClr val="C8891A"/>
          </a:solidFill>
          <a:ln>
            <a:noFill/>
          </a:ln>
        </p:spPr>
      </p:sp>
      <p:sp>
        <p:nvSpPr>
          <p:cNvPr id="195" name="Text"/>
          <p:cNvSpPr txBox="1"/>
          <p:nvPr/>
        </p:nvSpPr>
        <p:spPr>
          <a:xfrm>
            <a:off x="810260" y="206375"/>
            <a:ext cx="295275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Dual audio</a:t>
            </a:r>
            <a:endParaRPr lang="zh-TW" sz="2400"/>
          </a:p>
        </p:txBody>
      </p:sp>
      <p:sp>
        <p:nvSpPr>
          <p:cNvPr id="196" name="Text"/>
          <p:cNvSpPr txBox="1"/>
          <p:nvPr/>
        </p:nvSpPr>
        <p:spPr>
          <a:xfrm>
            <a:off x="810260" y="234315"/>
            <a:ext cx="295275" cy="228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I2S2 / I2S3 DMA</a:t>
            </a:r>
            <a:endParaRPr lang="zh-TW" sz="1800"/>
          </a:p>
        </p:txBody>
      </p:sp>
      <p:sp>
        <p:nvSpPr>
          <p:cNvPr id="197" name="Rectangle"/>
          <p:cNvSpPr/>
          <p:nvPr/>
        </p:nvSpPr>
        <p:spPr>
          <a:xfrm>
            <a:off x="58420" y="292100"/>
            <a:ext cx="336550" cy="92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198" name="Rectangle"/>
          <p:cNvSpPr/>
          <p:nvPr/>
        </p:nvSpPr>
        <p:spPr>
          <a:xfrm>
            <a:off x="73660" y="307340"/>
            <a:ext cx="27940" cy="5080"/>
          </a:xfrm>
          <a:prstGeom prst="roundRect">
            <a:avLst/>
          </a:prstGeom>
          <a:solidFill>
            <a:srgbClr val="2D7A46"/>
          </a:solidFill>
          <a:ln>
            <a:noFill/>
          </a:ln>
        </p:spPr>
      </p:sp>
      <p:sp>
        <p:nvSpPr>
          <p:cNvPr id="199" name="Text"/>
          <p:cNvSpPr txBox="1"/>
          <p:nvPr/>
        </p:nvSpPr>
        <p:spPr>
          <a:xfrm>
            <a:off x="73660" y="323850"/>
            <a:ext cx="295275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Head state</a:t>
            </a:r>
            <a:endParaRPr lang="zh-TW" sz="2400"/>
          </a:p>
        </p:txBody>
      </p:sp>
      <p:sp>
        <p:nvSpPr>
          <p:cNvPr id="200" name="Text"/>
          <p:cNvSpPr txBox="1"/>
          <p:nvPr/>
        </p:nvSpPr>
        <p:spPr>
          <a:xfrm>
            <a:off x="73660" y="351790"/>
            <a:ext cx="295275" cy="228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CENTER / LEFT / RIGHT / DOWN / UP</a:t>
            </a:r>
            <a:endParaRPr lang="zh-TW" sz="1800"/>
          </a:p>
        </p:txBody>
      </p:sp>
      <p:sp>
        <p:nvSpPr>
          <p:cNvPr id="201" name="Rectangle"/>
          <p:cNvSpPr/>
          <p:nvPr/>
        </p:nvSpPr>
        <p:spPr>
          <a:xfrm>
            <a:off x="426720" y="292100"/>
            <a:ext cx="336550" cy="92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202" name="Rectangle"/>
          <p:cNvSpPr/>
          <p:nvPr/>
        </p:nvSpPr>
        <p:spPr>
          <a:xfrm>
            <a:off x="441960" y="307340"/>
            <a:ext cx="27940" cy="5080"/>
          </a:xfrm>
          <a:prstGeom prst="roundRect">
            <a:avLst/>
          </a:prstGeom>
          <a:solidFill>
            <a:srgbClr val="D3543F"/>
          </a:solidFill>
          <a:ln>
            <a:noFill/>
          </a:ln>
        </p:spPr>
      </p:sp>
      <p:sp>
        <p:nvSpPr>
          <p:cNvPr id="203" name="Text"/>
          <p:cNvSpPr txBox="1"/>
          <p:nvPr/>
        </p:nvSpPr>
        <p:spPr>
          <a:xfrm>
            <a:off x="441960" y="323850"/>
            <a:ext cx="295275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Audio rail cutoff</a:t>
            </a:r>
            <a:endParaRPr lang="zh-TW" sz="2400"/>
          </a:p>
        </p:txBody>
      </p:sp>
      <p:sp>
        <p:nvSpPr>
          <p:cNvPr id="204" name="Text"/>
          <p:cNvSpPr txBox="1"/>
          <p:nvPr/>
        </p:nvSpPr>
        <p:spPr>
          <a:xfrm>
            <a:off x="441960" y="351790"/>
            <a:ext cx="295275" cy="228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AO3401 + INA219, PASS</a:t>
            </a:r>
            <a:endParaRPr lang="zh-TW" sz="1800"/>
          </a:p>
        </p:txBody>
      </p:sp>
      <p:sp>
        <p:nvSpPr>
          <p:cNvPr id="205" name="Rectangle"/>
          <p:cNvSpPr/>
          <p:nvPr/>
        </p:nvSpPr>
        <p:spPr>
          <a:xfrm>
            <a:off x="795020" y="292100"/>
            <a:ext cx="336550" cy="92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206" name="Rectangle"/>
          <p:cNvSpPr/>
          <p:nvPr/>
        </p:nvSpPr>
        <p:spPr>
          <a:xfrm>
            <a:off x="810260" y="307340"/>
            <a:ext cx="27940" cy="5080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207" name="Text"/>
          <p:cNvSpPr txBox="1"/>
          <p:nvPr/>
        </p:nvSpPr>
        <p:spPr>
          <a:xfrm>
            <a:off x="810260" y="323850"/>
            <a:ext cx="295275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MicroSD logging</a:t>
            </a:r>
            <a:endParaRPr lang="zh-TW" sz="2400"/>
          </a:p>
        </p:txBody>
      </p:sp>
      <p:sp>
        <p:nvSpPr>
          <p:cNvPr id="208" name="Text"/>
          <p:cNvSpPr txBox="1"/>
          <p:nvPr/>
        </p:nvSpPr>
        <p:spPr>
          <a:xfrm>
            <a:off x="810260" y="351790"/>
            <a:ext cx="295275" cy="228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LOG000.CSV, 133 rows</a:t>
            </a:r>
            <a:endParaRPr lang="zh-TW" sz="1800"/>
          </a:p>
        </p:txBody>
      </p:sp>
      <p:sp>
        <p:nvSpPr>
          <p:cNvPr id="209" name="Rectangle"/>
          <p:cNvSpPr/>
          <p:nvPr/>
        </p:nvSpPr>
        <p:spPr>
          <a:xfrm>
            <a:off x="58420" y="409575"/>
            <a:ext cx="336550" cy="92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210" name="Rectangle"/>
          <p:cNvSpPr/>
          <p:nvPr/>
        </p:nvSpPr>
        <p:spPr>
          <a:xfrm>
            <a:off x="73660" y="424815"/>
            <a:ext cx="27940" cy="5080"/>
          </a:xfrm>
          <a:prstGeom prst="roundRect">
            <a:avLst/>
          </a:prstGeom>
          <a:solidFill>
            <a:srgbClr val="2F6FBB"/>
          </a:solidFill>
          <a:ln>
            <a:noFill/>
          </a:ln>
        </p:spPr>
      </p:sp>
      <p:sp>
        <p:nvSpPr>
          <p:cNvPr id="211" name="Text"/>
          <p:cNvSpPr txBox="1"/>
          <p:nvPr/>
        </p:nvSpPr>
        <p:spPr>
          <a:xfrm>
            <a:off x="73660" y="441325"/>
            <a:ext cx="295275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UART telemetry</a:t>
            </a:r>
            <a:endParaRPr lang="zh-TW" sz="2400"/>
          </a:p>
        </p:txBody>
      </p:sp>
      <p:sp>
        <p:nvSpPr>
          <p:cNvPr id="212" name="Text"/>
          <p:cNvSpPr txBox="1"/>
          <p:nvPr/>
        </p:nvSpPr>
        <p:spPr>
          <a:xfrm>
            <a:off x="73660" y="469265"/>
            <a:ext cx="295275" cy="228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SIM / SIM2 / SIM3 / PWR</a:t>
            </a:r>
            <a:endParaRPr lang="zh-TW" sz="1800"/>
          </a:p>
        </p:txBody>
      </p:sp>
      <p:sp>
        <p:nvSpPr>
          <p:cNvPr id="213" name="Rectangle"/>
          <p:cNvSpPr/>
          <p:nvPr/>
        </p:nvSpPr>
        <p:spPr>
          <a:xfrm>
            <a:off x="426720" y="409575"/>
            <a:ext cx="336550" cy="92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214" name="Rectangle"/>
          <p:cNvSpPr/>
          <p:nvPr/>
        </p:nvSpPr>
        <p:spPr>
          <a:xfrm>
            <a:off x="441960" y="424815"/>
            <a:ext cx="27940" cy="5080"/>
          </a:xfrm>
          <a:prstGeom prst="roundRect">
            <a:avLst/>
          </a:prstGeom>
          <a:solidFill>
            <a:srgbClr val="C8891A"/>
          </a:solidFill>
          <a:ln>
            <a:noFill/>
          </a:ln>
        </p:spPr>
      </p:sp>
      <p:sp>
        <p:nvSpPr>
          <p:cNvPr id="215" name="Text"/>
          <p:cNvSpPr txBox="1"/>
          <p:nvPr/>
        </p:nvSpPr>
        <p:spPr>
          <a:xfrm>
            <a:off x="441960" y="441325"/>
            <a:ext cx="295275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Desktop page</a:t>
            </a:r>
            <a:endParaRPr lang="zh-TW" sz="2400"/>
          </a:p>
        </p:txBody>
      </p:sp>
      <p:sp>
        <p:nvSpPr>
          <p:cNvPr id="216" name="Text"/>
          <p:cNvSpPr txBox="1"/>
          <p:nvPr/>
        </p:nvSpPr>
        <p:spPr>
          <a:xfrm>
            <a:off x="441960" y="469265"/>
            <a:ext cx="295275" cy="228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Hardware connected and tested</a:t>
            </a:r>
            <a:endParaRPr lang="zh-TW" sz="1800"/>
          </a:p>
        </p:txBody>
      </p:sp>
      <p:sp>
        <p:nvSpPr>
          <p:cNvPr id="217" name="Rectangle"/>
          <p:cNvSpPr/>
          <p:nvPr/>
        </p:nvSpPr>
        <p:spPr>
          <a:xfrm>
            <a:off x="795020" y="409575"/>
            <a:ext cx="336550" cy="92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218" name="Rectangle"/>
          <p:cNvSpPr/>
          <p:nvPr/>
        </p:nvSpPr>
        <p:spPr>
          <a:xfrm>
            <a:off x="810260" y="424815"/>
            <a:ext cx="27940" cy="5080"/>
          </a:xfrm>
          <a:prstGeom prst="roundRect">
            <a:avLst/>
          </a:prstGeom>
          <a:solidFill>
            <a:srgbClr val="2D7A46"/>
          </a:solidFill>
          <a:ln>
            <a:noFill/>
          </a:ln>
        </p:spPr>
      </p:sp>
      <p:sp>
        <p:nvSpPr>
          <p:cNvPr id="219" name="Text"/>
          <p:cNvSpPr txBox="1"/>
          <p:nvPr/>
        </p:nvSpPr>
        <p:spPr>
          <a:xfrm>
            <a:off x="810260" y="441325"/>
            <a:ext cx="295275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PCB design</a:t>
            </a:r>
            <a:endParaRPr lang="zh-TW" sz="2400"/>
          </a:p>
        </p:txBody>
      </p:sp>
      <p:sp>
        <p:nvSpPr>
          <p:cNvPr id="220" name="Text"/>
          <p:cNvSpPr txBox="1"/>
          <p:nvPr/>
        </p:nvSpPr>
        <p:spPr>
          <a:xfrm>
            <a:off x="810260" y="469265"/>
            <a:ext cx="295275" cy="228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Schematic + layout + 3D preview</a:t>
            </a:r>
            <a:endParaRPr lang="zh-TW" sz="1800"/>
          </a:p>
        </p:txBody>
      </p:sp>
      <p:sp>
        <p:nvSpPr>
          <p:cNvPr id="3" name="Text"/>
          <p:cNvSpPr txBox="1"/>
          <p:nvPr/>
        </p:nvSpPr>
        <p:spPr>
          <a:xfrm>
            <a:off x="58420" y="633730"/>
            <a:ext cx="39370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STM32F411 Head-Tracking Audio</a:t>
            </a:r>
            <a:endParaRPr lang="zh-TW" sz="1600"/>
          </a:p>
        </p:txBody>
      </p:sp>
      <p:sp>
        <p:nvSpPr>
          <p:cNvPr id="4" name="Text"/>
          <p:cNvSpPr txBox="1"/>
          <p:nvPr/>
        </p:nvSpPr>
        <p:spPr>
          <a:xfrm>
            <a:off x="1041400" y="633730"/>
            <a:ext cx="12065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10 / 11</a:t>
            </a:r>
            <a:endParaRPr lang="zh-TW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221" name="Text"/>
          <p:cNvSpPr txBox="1"/>
          <p:nvPr/>
        </p:nvSpPr>
        <p:spPr>
          <a:xfrm>
            <a:off x="58420" y="66675"/>
            <a:ext cx="3302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b/>
                <a:solidFill>
                  <a:srgbClr val="00857A"/>
                </a:solidFill>
                <a:latin typeface="Aptos"/>
                <a:ea typeface="Microsoft JhengHei"/>
              </a:rPr>
              <a:t>結論</a:t>
            </a:r>
            <a:endParaRPr lang="zh-TW" sz="1800"/>
          </a:p>
        </p:txBody>
      </p:sp>
      <p:sp>
        <p:nvSpPr>
          <p:cNvPr id="222" name="Text"/>
          <p:cNvSpPr txBox="1"/>
          <p:nvPr/>
        </p:nvSpPr>
        <p:spPr>
          <a:xfrm>
            <a:off x="58420" y="102870"/>
            <a:ext cx="660400" cy="984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58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完成可展示的嵌入式系統開發流程</a:t>
            </a:r>
            <a:endParaRPr lang="zh-TW" sz="5800"/>
          </a:p>
        </p:txBody>
      </p:sp>
      <p:sp>
        <p:nvSpPr>
          <p:cNvPr id="223" name="Text"/>
          <p:cNvSpPr txBox="1"/>
          <p:nvPr/>
        </p:nvSpPr>
        <p:spPr>
          <a:xfrm>
            <a:off x="58420" y="222250"/>
            <a:ext cx="603250" cy="9207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500" dirty="0">
                <a:solidFill>
                  <a:srgbClr val="5B6773"/>
                </a:solidFill>
                <a:latin typeface="Aptos"/>
                <a:ea typeface="Microsoft JhengHei"/>
              </a:rPr>
              <a:t>本專案已從 AI 設計、麵包板驗證、韌體實作、桌面監測，到 schematic 與 PCB layout 完成閉環。最重要的成果是 LOW_POWER 模式由軟體靜音進一步做到硬體切斷音訊電源軌。</a:t>
            </a:r>
            <a:endParaRPr lang="zh-TW" sz="2500"/>
          </a:p>
        </p:txBody>
      </p:sp>
      <p:sp>
        <p:nvSpPr>
          <p:cNvPr id="224" name="Rectangle"/>
          <p:cNvSpPr/>
          <p:nvPr/>
        </p:nvSpPr>
        <p:spPr>
          <a:xfrm>
            <a:off x="58420" y="35941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225" name="Text"/>
          <p:cNvSpPr txBox="1"/>
          <p:nvPr/>
        </p:nvSpPr>
        <p:spPr>
          <a:xfrm>
            <a:off x="73660" y="352425"/>
            <a:ext cx="575310" cy="3683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solidFill>
                  <a:srgbClr val="17202A"/>
                </a:solidFill>
                <a:latin typeface="Aptos"/>
                <a:ea typeface="Microsoft JhengHei"/>
              </a:rPr>
              <a:t>軟體靜音約 5.6 mA，硬體切斷後接近 0 mA。</a:t>
            </a:r>
            <a:endParaRPr lang="zh-TW" sz="2400"/>
          </a:p>
        </p:txBody>
      </p:sp>
      <p:sp>
        <p:nvSpPr>
          <p:cNvPr id="226" name="Rectangle"/>
          <p:cNvSpPr/>
          <p:nvPr/>
        </p:nvSpPr>
        <p:spPr>
          <a:xfrm>
            <a:off x="58420" y="39624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227" name="Text"/>
          <p:cNvSpPr txBox="1"/>
          <p:nvPr/>
        </p:nvSpPr>
        <p:spPr>
          <a:xfrm>
            <a:off x="73660" y="389255"/>
            <a:ext cx="575310" cy="3683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solidFill>
                  <a:srgbClr val="17202A"/>
                </a:solidFill>
                <a:latin typeface="Aptos"/>
                <a:ea typeface="Microsoft JhengHei"/>
              </a:rPr>
              <a:t>桌面 HTML page 已能讀取硬體 telemetry。</a:t>
            </a:r>
            <a:endParaRPr lang="zh-TW" sz="2400"/>
          </a:p>
        </p:txBody>
      </p:sp>
      <p:sp>
        <p:nvSpPr>
          <p:cNvPr id="228" name="Rectangle"/>
          <p:cNvSpPr/>
          <p:nvPr/>
        </p:nvSpPr>
        <p:spPr>
          <a:xfrm>
            <a:off x="58420" y="433070"/>
            <a:ext cx="5715" cy="5715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229" name="Text"/>
          <p:cNvSpPr txBox="1"/>
          <p:nvPr/>
        </p:nvSpPr>
        <p:spPr>
          <a:xfrm>
            <a:off x="73660" y="426085"/>
            <a:ext cx="575310" cy="3683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400" dirty="0">
                <a:solidFill>
                  <a:srgbClr val="17202A"/>
                </a:solidFill>
                <a:latin typeface="Aptos"/>
                <a:ea typeface="Microsoft JhengHei"/>
              </a:rPr>
              <a:t>PCB layout 已把外接模組轉為板級 IC 連接。</a:t>
            </a:r>
            <a:endParaRPr lang="zh-TW" sz="2400"/>
          </a:p>
        </p:txBody>
      </p:sp>
      <p:sp>
        <p:nvSpPr>
          <p:cNvPr id="230" name="Rectangle"/>
          <p:cNvSpPr/>
          <p:nvPr/>
        </p:nvSpPr>
        <p:spPr>
          <a:xfrm>
            <a:off x="736600" y="114300"/>
            <a:ext cx="368300" cy="114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231" name="Rectangle"/>
          <p:cNvSpPr/>
          <p:nvPr/>
        </p:nvSpPr>
        <p:spPr>
          <a:xfrm>
            <a:off x="751840" y="129540"/>
            <a:ext cx="31750" cy="5080"/>
          </a:xfrm>
          <a:prstGeom prst="roundRect">
            <a:avLst/>
          </a:prstGeom>
          <a:solidFill>
            <a:srgbClr val="00857A"/>
          </a:solidFill>
          <a:ln>
            <a:noFill/>
          </a:ln>
        </p:spPr>
      </p:sp>
      <p:sp>
        <p:nvSpPr>
          <p:cNvPr id="232" name="Text"/>
          <p:cNvSpPr txBox="1"/>
          <p:nvPr/>
        </p:nvSpPr>
        <p:spPr>
          <a:xfrm>
            <a:off x="751840" y="149860"/>
            <a:ext cx="33782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Next</a:t>
            </a:r>
            <a:endParaRPr lang="zh-TW" sz="1800"/>
          </a:p>
        </p:txBody>
      </p:sp>
      <p:sp>
        <p:nvSpPr>
          <p:cNvPr id="233" name="Text"/>
          <p:cNvSpPr txBox="1"/>
          <p:nvPr/>
        </p:nvSpPr>
        <p:spPr>
          <a:xfrm>
            <a:off x="751840" y="172720"/>
            <a:ext cx="33782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PCB 實板</a:t>
            </a:r>
            <a:endParaRPr lang="zh-TW" sz="3600"/>
          </a:p>
        </p:txBody>
      </p:sp>
      <p:sp>
        <p:nvSpPr>
          <p:cNvPr id="234" name="Text"/>
          <p:cNvSpPr txBox="1"/>
          <p:nvPr/>
        </p:nvSpPr>
        <p:spPr>
          <a:xfrm>
            <a:off x="751840" y="210820"/>
            <a:ext cx="337820" cy="12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後續可進行製板、焊接與上電測試。</a:t>
            </a:r>
            <a:endParaRPr lang="zh-TW" sz="1700"/>
          </a:p>
        </p:txBody>
      </p:sp>
      <p:sp>
        <p:nvSpPr>
          <p:cNvPr id="235" name="Rectangle"/>
          <p:cNvSpPr/>
          <p:nvPr/>
        </p:nvSpPr>
        <p:spPr>
          <a:xfrm>
            <a:off x="736600" y="260350"/>
            <a:ext cx="368300" cy="114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236" name="Rectangle"/>
          <p:cNvSpPr/>
          <p:nvPr/>
        </p:nvSpPr>
        <p:spPr>
          <a:xfrm>
            <a:off x="751840" y="275590"/>
            <a:ext cx="31750" cy="5080"/>
          </a:xfrm>
          <a:prstGeom prst="roundRect">
            <a:avLst/>
          </a:prstGeom>
          <a:solidFill>
            <a:srgbClr val="C8891A"/>
          </a:solidFill>
          <a:ln>
            <a:noFill/>
          </a:ln>
        </p:spPr>
      </p:sp>
      <p:sp>
        <p:nvSpPr>
          <p:cNvPr id="237" name="Text"/>
          <p:cNvSpPr txBox="1"/>
          <p:nvPr/>
        </p:nvSpPr>
        <p:spPr>
          <a:xfrm>
            <a:off x="751840" y="295910"/>
            <a:ext cx="33782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Improve</a:t>
            </a:r>
            <a:endParaRPr lang="zh-TW" sz="1800"/>
          </a:p>
        </p:txBody>
      </p:sp>
      <p:sp>
        <p:nvSpPr>
          <p:cNvPr id="238" name="Text"/>
          <p:cNvSpPr txBox="1"/>
          <p:nvPr/>
        </p:nvSpPr>
        <p:spPr>
          <a:xfrm>
            <a:off x="751840" y="318770"/>
            <a:ext cx="33782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Log / UI</a:t>
            </a:r>
            <a:endParaRPr lang="zh-TW" sz="3600"/>
          </a:p>
        </p:txBody>
      </p:sp>
      <p:sp>
        <p:nvSpPr>
          <p:cNvPr id="239" name="Text"/>
          <p:cNvSpPr txBox="1"/>
          <p:nvPr/>
        </p:nvSpPr>
        <p:spPr>
          <a:xfrm>
            <a:off x="751840" y="356870"/>
            <a:ext cx="337820" cy="12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擴充電流趨勢圖、fault history 與完整測試流程。</a:t>
            </a:r>
            <a:endParaRPr lang="zh-TW" sz="1700"/>
          </a:p>
        </p:txBody>
      </p:sp>
      <p:sp>
        <p:nvSpPr>
          <p:cNvPr id="240" name="Rectangle"/>
          <p:cNvSpPr/>
          <p:nvPr/>
        </p:nvSpPr>
        <p:spPr>
          <a:xfrm>
            <a:off x="736600" y="406400"/>
            <a:ext cx="368300" cy="114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</p:sp>
      <p:sp>
        <p:nvSpPr>
          <p:cNvPr id="241" name="Rectangle"/>
          <p:cNvSpPr/>
          <p:nvPr/>
        </p:nvSpPr>
        <p:spPr>
          <a:xfrm>
            <a:off x="751840" y="421640"/>
            <a:ext cx="31750" cy="5080"/>
          </a:xfrm>
          <a:prstGeom prst="roundRect">
            <a:avLst/>
          </a:prstGeom>
          <a:solidFill>
            <a:srgbClr val="2F6FBB"/>
          </a:solidFill>
          <a:ln>
            <a:noFill/>
          </a:ln>
        </p:spPr>
      </p:sp>
      <p:sp>
        <p:nvSpPr>
          <p:cNvPr id="242" name="Text"/>
          <p:cNvSpPr txBox="1"/>
          <p:nvPr/>
        </p:nvSpPr>
        <p:spPr>
          <a:xfrm>
            <a:off x="751840" y="441960"/>
            <a:ext cx="33782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5B6773"/>
                </a:solidFill>
                <a:latin typeface="Aptos"/>
                <a:ea typeface="Microsoft JhengHei"/>
              </a:rPr>
              <a:t>Optional</a:t>
            </a:r>
            <a:endParaRPr lang="zh-TW" sz="1800"/>
          </a:p>
        </p:txBody>
      </p:sp>
      <p:sp>
        <p:nvSpPr>
          <p:cNvPr id="243" name="Text"/>
          <p:cNvSpPr txBox="1"/>
          <p:nvPr/>
        </p:nvSpPr>
        <p:spPr>
          <a:xfrm>
            <a:off x="751840" y="464820"/>
            <a:ext cx="337820" cy="3429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600" dirty="0">
                <a:b/>
                <a:solidFill>
                  <a:srgbClr val="17202A"/>
                </a:solidFill>
                <a:latin typeface="Aptos"/>
                <a:ea typeface="Microsoft JhengHei"/>
              </a:rPr>
              <a:t>Sensor fusion</a:t>
            </a:r>
            <a:endParaRPr lang="zh-TW" sz="3600"/>
          </a:p>
        </p:txBody>
      </p:sp>
      <p:sp>
        <p:nvSpPr>
          <p:cNvPr id="244" name="Text"/>
          <p:cNvSpPr txBox="1"/>
          <p:nvPr/>
        </p:nvSpPr>
        <p:spPr>
          <a:xfrm>
            <a:off x="751840" y="502920"/>
            <a:ext cx="337820" cy="12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700" dirty="0">
                <a:solidFill>
                  <a:srgbClr val="5B6773"/>
                </a:solidFill>
                <a:latin typeface="Aptos"/>
                <a:ea typeface="Microsoft JhengHei"/>
              </a:rPr>
              <a:t>若需要完整 3D 姿態，可加入 gyro fusion 或 yaw 估測。</a:t>
            </a:r>
            <a:endParaRPr lang="zh-TW" sz="1700"/>
          </a:p>
        </p:txBody>
      </p:sp>
      <p:sp>
        <p:nvSpPr>
          <p:cNvPr id="3" name="Text"/>
          <p:cNvSpPr txBox="1"/>
          <p:nvPr/>
        </p:nvSpPr>
        <p:spPr>
          <a:xfrm>
            <a:off x="58420" y="633730"/>
            <a:ext cx="39370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STM32F411 Head-Tracking Audio</a:t>
            </a:r>
            <a:endParaRPr lang="zh-TW" sz="1600"/>
          </a:p>
        </p:txBody>
      </p:sp>
      <p:sp>
        <p:nvSpPr>
          <p:cNvPr id="4" name="Text"/>
          <p:cNvSpPr txBox="1"/>
          <p:nvPr/>
        </p:nvSpPr>
        <p:spPr>
          <a:xfrm>
            <a:off x="1041400" y="633730"/>
            <a:ext cx="120650" cy="2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600" dirty="0">
                <a:solidFill>
                  <a:srgbClr val="5B6773"/>
                </a:solidFill>
                <a:latin typeface="Aptos"/>
                <a:ea typeface="Microsoft JhengHei"/>
              </a:rPr>
              <a:t>11 / 11</a:t>
            </a:r>
            <a:endParaRPr lang="zh-TW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">
      <a:dk1>
        <a:srgbClr val="000000"/>
      </a:dk1>
      <a:lt1>
        <a:srgbClr val="FFFFFF"/>
      </a:lt1>
      <a:dk2>
        <a:srgbClr val="17202A"/>
      </a:dk2>
      <a:lt2>
        <a:srgbClr val="F7F9FB"/>
      </a:lt2>
      <a:accent1>
        <a:srgbClr val="00857A"/>
      </a:accent1>
      <a:accent2>
        <a:srgbClr val="C8891A"/>
      </a:accent2>
      <a:accent3>
        <a:srgbClr val="2D7A46"/>
      </a:accent3>
      <a:accent4>
        <a:srgbClr val="D3543F"/>
      </a:accent4>
      <a:accent5>
        <a:srgbClr val="2F6FBB"/>
      </a:accent5>
      <a:accent6>
        <a:srgbClr val="D6DEE6"/>
      </a:accent6>
      <a:hlink>
        <a:srgbClr val="00857A"/>
      </a:hlink>
      <a:folHlink>
        <a:srgbClr val="D3543F"/>
      </a:folHlink>
    </a:clrScheme>
    <a:fontScheme name="Codex">
      <a:majorFont>
        <a:latin typeface="Aptos Display"/>
        <a:ea typeface="Microsoft JhengHei"/>
      </a:majorFont>
      <a:minorFont>
        <a:latin typeface="Aptos"/>
        <a:ea typeface="Microsoft JhengHei"/>
      </a:minorFont>
    </a:fontScheme>
    <a:fmtScheme name="Codex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STM32F411 頭部追蹤音訊系統報告</dc:title>
  <dc:creator>Codex</dc:creator>
  <cp:lastModifiedBy>Codex</cp:lastModifiedBy>
  <dcterms:created xsi:type="dcterms:W3CDTF">2026-06-01T00:00:00Z</dcterms:created>
  <dcterms:modified xsi:type="dcterms:W3CDTF">2026-06-01T00:00:00Z</dcterms:modified>
</cp:coreProperties>
</file>